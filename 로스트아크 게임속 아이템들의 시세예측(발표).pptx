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307" r:id="rId9"/>
    <p:sldId id="308" r:id="rId10"/>
    <p:sldId id="266" r:id="rId11"/>
    <p:sldId id="267" r:id="rId12"/>
    <p:sldId id="285" r:id="rId13"/>
    <p:sldId id="312" r:id="rId14"/>
    <p:sldId id="290" r:id="rId15"/>
    <p:sldId id="313" r:id="rId16"/>
    <p:sldId id="314" r:id="rId17"/>
    <p:sldId id="269" r:id="rId18"/>
    <p:sldId id="316" r:id="rId19"/>
    <p:sldId id="296" r:id="rId20"/>
    <p:sldId id="315" r:id="rId21"/>
    <p:sldId id="309" r:id="rId22"/>
    <p:sldId id="317" r:id="rId23"/>
    <p:sldId id="318" r:id="rId24"/>
    <p:sldId id="319" r:id="rId25"/>
    <p:sldId id="30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9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6AB2F-92E1-F3CE-E65E-F1C78E7FD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AB18FD-8113-52A2-FACD-349A26DCE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7CC86D-BC4B-397E-A043-BA3B777F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16CD-A28E-4E79-85F3-7D045DF0DCFB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827B58-AEDF-7266-842B-28ACA43E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5FDFF6-FFA0-029E-B493-3B9837D6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39B2A-4AE7-4AC7-B704-1D0972729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5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5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책상 위의 가젯">
            <a:extLst>
              <a:ext uri="{FF2B5EF4-FFF2-40B4-BE49-F238E27FC236}">
                <a16:creationId xmlns:a16="http://schemas.microsoft.com/office/drawing/2014/main" id="{E3286178-7052-01C4-71F9-23198A58C1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500" b="2050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0786B66-244D-82C6-B703-CFB648B57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ko-KR" altLang="en-US" sz="5400" dirty="0" err="1">
                <a:solidFill>
                  <a:srgbClr val="FFFFFF"/>
                </a:solidFill>
              </a:rPr>
              <a:t>로스트아크</a:t>
            </a:r>
            <a:r>
              <a:rPr lang="ko-KR" altLang="en-US" sz="5400" dirty="0">
                <a:solidFill>
                  <a:srgbClr val="FFFFFF"/>
                </a:solidFill>
              </a:rPr>
              <a:t> </a:t>
            </a:r>
            <a:r>
              <a:rPr lang="ko-KR" altLang="en-US" sz="5400" dirty="0" err="1">
                <a:solidFill>
                  <a:srgbClr val="FFFFFF"/>
                </a:solidFill>
              </a:rPr>
              <a:t>게임속</a:t>
            </a:r>
            <a:r>
              <a:rPr lang="ko-KR" altLang="en-US" sz="5400" dirty="0">
                <a:solidFill>
                  <a:srgbClr val="FFFFFF"/>
                </a:solidFill>
              </a:rPr>
              <a:t> 아이템들의 시세예측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FA742E-738F-9C60-7978-18D068C4E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altLang="ko-KR" sz="2200">
                <a:solidFill>
                  <a:srgbClr val="FFFFFF"/>
                </a:solidFill>
              </a:rPr>
              <a:t>202006040 </a:t>
            </a:r>
            <a:r>
              <a:rPr lang="ko-KR" altLang="en-US" sz="2200">
                <a:solidFill>
                  <a:srgbClr val="FFFFFF"/>
                </a:solidFill>
              </a:rPr>
              <a:t>장기성</a:t>
            </a:r>
          </a:p>
        </p:txBody>
      </p:sp>
    </p:spTree>
    <p:extLst>
      <p:ext uri="{BB962C8B-B14F-4D97-AF65-F5344CB8AC3E}">
        <p14:creationId xmlns:p14="http://schemas.microsoft.com/office/powerpoint/2010/main" val="4277284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DC141-7241-2AED-AB43-FECC99061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662A7-D4CD-C0AD-15A3-70040CDA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동기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ADFFE8-9D14-DA98-E5B6-DB3E3EA71F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79" t="20764" r="66624" b="54895"/>
          <a:stretch>
            <a:fillRect/>
          </a:stretch>
        </p:blipFill>
        <p:spPr>
          <a:xfrm>
            <a:off x="8540886" y="548640"/>
            <a:ext cx="1722545" cy="17225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27CA105-7E26-00B1-6C14-1E14BC6AF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347" y="2231576"/>
            <a:ext cx="3466185" cy="34661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7F57FA2-6941-EA99-A30A-10367C90F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115" y="2525795"/>
            <a:ext cx="2143125" cy="2143125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B15328A-4B15-2D80-E5A4-D1374BD4E712}"/>
              </a:ext>
            </a:extLst>
          </p:cNvPr>
          <p:cNvSpPr txBox="1">
            <a:spLocks/>
          </p:cNvSpPr>
          <p:nvPr/>
        </p:nvSpPr>
        <p:spPr>
          <a:xfrm>
            <a:off x="5898135" y="3258622"/>
            <a:ext cx="1400979" cy="67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Day 19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4AE0706-8918-3D50-0BDD-2146E04A252E}"/>
              </a:ext>
            </a:extLst>
          </p:cNvPr>
          <p:cNvSpPr/>
          <p:nvPr/>
        </p:nvSpPr>
        <p:spPr>
          <a:xfrm>
            <a:off x="9402158" y="3135693"/>
            <a:ext cx="21098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5400" b="1" dirty="0">
                <a:ln/>
                <a:solidFill>
                  <a:schemeClr val="accent4"/>
                </a:solidFill>
              </a:rPr>
              <a:t>200G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41B62AA-8681-B09C-3B8B-15D575493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114" y="4668920"/>
            <a:ext cx="2143125" cy="214312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31474B-51C4-5AB0-7735-1280EA1E06BC}"/>
              </a:ext>
            </a:extLst>
          </p:cNvPr>
          <p:cNvSpPr/>
          <p:nvPr/>
        </p:nvSpPr>
        <p:spPr>
          <a:xfrm>
            <a:off x="9483910" y="5278818"/>
            <a:ext cx="19463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5400" b="1" dirty="0">
                <a:ln/>
                <a:solidFill>
                  <a:schemeClr val="accent4"/>
                </a:solidFill>
              </a:rPr>
              <a:t>150G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EC61FCE-6EB8-EFB0-F498-5161DB821E29}"/>
              </a:ext>
            </a:extLst>
          </p:cNvPr>
          <p:cNvSpPr txBox="1">
            <a:spLocks/>
          </p:cNvSpPr>
          <p:nvPr/>
        </p:nvSpPr>
        <p:spPr>
          <a:xfrm>
            <a:off x="5898135" y="5401746"/>
            <a:ext cx="1400979" cy="67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Day 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66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CF981-3288-0BA7-FED5-5DD4E098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152E1B-9AB3-8EDF-BB41-838C8D68A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데이터를 요청하기 위한 </a:t>
            </a:r>
            <a:r>
              <a:rPr lang="en-US" altLang="ko-KR" dirty="0"/>
              <a:t>API</a:t>
            </a:r>
            <a:r>
              <a:rPr lang="ko-KR" altLang="en-US" dirty="0"/>
              <a:t>키 발급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CA25C6-A6C6-7261-4107-FF0B39A75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37" y="3269988"/>
            <a:ext cx="5710332" cy="26500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6ADE168-2724-BE96-7F91-3EACBAD81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436" y="3269988"/>
            <a:ext cx="6214023" cy="26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42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F438-5DE0-EE16-D673-455CD71D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2943F-C92A-B305-BF72-CFDF8966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BAE56E-EB3D-1990-8AE1-FE2D07E94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공식 문서를 참고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A2D149-B44A-9475-7B3E-C576B89EB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015" y="2965442"/>
            <a:ext cx="5875309" cy="28766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1DE105-967C-1749-3F7A-EE6328C4F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76" y="2965442"/>
            <a:ext cx="5875309" cy="285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9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53F8-C29C-220E-63D9-21A61EFE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04C158-4046-40A4-E1C8-5879F242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D3585D-047E-0F9D-BFD3-2A77F560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테스트용 프로그램 제작</a:t>
            </a: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9328627B-9914-E21A-6933-BAFB5D51D3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5448" y="3501177"/>
          <a:ext cx="1300933" cy="924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2" imgW="723929" imgH="514350" progId="Package">
                  <p:embed/>
                </p:oleObj>
              </mc:Choice>
              <mc:Fallback>
                <p:oleObj name="포장기 셸 개체" showAsIcon="1" r:id="rId2" imgW="723929" imgH="514350" progId="Package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9328627B-9914-E21A-6933-BAFB5D51D3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95448" y="3501177"/>
                        <a:ext cx="1300933" cy="924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6C632655-17AA-E0C5-CCD4-5BAD5E00B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975" y="234103"/>
            <a:ext cx="3330110" cy="638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32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CCEAE-54C3-0D48-890D-3368AD0A6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2EA62-B4D0-7124-EA14-F4FEB242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D6712C-B01D-8D1B-72BA-2C841818D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API </a:t>
            </a:r>
            <a:r>
              <a:rPr lang="ko-KR" altLang="en-US" dirty="0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A02D50-8184-9FD0-473A-DF9AACC9D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2878059"/>
            <a:ext cx="5118566" cy="34659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C7B91C4-A5A3-0B40-581B-28025A93B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789" y="2074360"/>
            <a:ext cx="4907878" cy="426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3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A4D08-EA0D-ED91-F4FF-2DD9EE25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9DE8A-78B9-495C-2726-BFB374AA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7F8A8-FB28-4C2F-B1BA-A0B5EEA4F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테스트 결과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수집 가능한 데이터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아이템의 현재 최저가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특정 아이템의 최대 </a:t>
            </a:r>
            <a:r>
              <a:rPr lang="en-US" altLang="ko-KR" dirty="0"/>
              <a:t>2</a:t>
            </a:r>
            <a:r>
              <a:rPr lang="ko-KR" altLang="en-US" dirty="0"/>
              <a:t>주전까지의 </a:t>
            </a:r>
            <a:r>
              <a:rPr lang="ko-KR" altLang="en-US" dirty="0" err="1"/>
              <a:t>하루합산</a:t>
            </a:r>
            <a:r>
              <a:rPr lang="ko-KR" altLang="en-US" dirty="0"/>
              <a:t> 데이터</a:t>
            </a:r>
            <a:endParaRPr lang="en-US" altLang="ko-KR" dirty="0"/>
          </a:p>
          <a:p>
            <a:pPr lvl="2"/>
            <a:r>
              <a:rPr lang="ko-KR" altLang="en-US" dirty="0"/>
              <a:t>평균판매가</a:t>
            </a:r>
            <a:r>
              <a:rPr lang="en-US" altLang="ko-KR" dirty="0"/>
              <a:t>, </a:t>
            </a:r>
            <a:r>
              <a:rPr lang="ko-KR" altLang="en-US" dirty="0"/>
              <a:t>최저판매가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25442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42CBA-CA48-6C82-B7EA-7617F26E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폭발: 14pt 7">
            <a:extLst>
              <a:ext uri="{FF2B5EF4-FFF2-40B4-BE49-F238E27FC236}">
                <a16:creationId xmlns:a16="http://schemas.microsoft.com/office/drawing/2014/main" id="{B8BD27AF-03B3-1D0C-C616-11235287DCD3}"/>
              </a:ext>
            </a:extLst>
          </p:cNvPr>
          <p:cNvSpPr/>
          <p:nvPr/>
        </p:nvSpPr>
        <p:spPr>
          <a:xfrm>
            <a:off x="923924" y="889065"/>
            <a:ext cx="11077575" cy="5305425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8D5C32F-DD07-E924-69B9-2EA7D2150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324" y="647701"/>
            <a:ext cx="6921626" cy="5788152"/>
          </a:xfrm>
        </p:spPr>
        <p:txBody>
          <a:bodyPr anchor="ctr">
            <a:normAutofit/>
          </a:bodyPr>
          <a:lstStyle/>
          <a:p>
            <a:r>
              <a:rPr lang="ko-KR" altLang="en-US" sz="4000" dirty="0">
                <a:solidFill>
                  <a:schemeClr val="bg1"/>
                </a:solidFill>
              </a:rPr>
              <a:t>데이터 수집 시스템 구축</a:t>
            </a:r>
          </a:p>
        </p:txBody>
      </p:sp>
    </p:spTree>
    <p:extLst>
      <p:ext uri="{BB962C8B-B14F-4D97-AF65-F5344CB8AC3E}">
        <p14:creationId xmlns:p14="http://schemas.microsoft.com/office/powerpoint/2010/main" val="773565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3450D-2EC8-152A-138D-E7BA0FA3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CEF8B06-5DE6-0F78-3037-7CC1A3E7F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32" y="365126"/>
            <a:ext cx="3734610" cy="9336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CC508D-C1AD-E659-CEAA-C9DAF5554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7" y="5086605"/>
            <a:ext cx="2808963" cy="15759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32A2EA-E35C-BB6C-B36B-7CDA32A6A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398" y="2834239"/>
            <a:ext cx="2631295" cy="26312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C6243F8-8AD2-2E64-E6E2-83CFC38622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779" y="1032192"/>
            <a:ext cx="3432470" cy="180204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2A0C1B6-9EE4-238A-526E-F2FDD0580B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8208" y="3397032"/>
            <a:ext cx="3000128" cy="1960084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AB89B45-684F-6372-1064-8592AF9AB7BD}"/>
              </a:ext>
            </a:extLst>
          </p:cNvPr>
          <p:cNvCxnSpPr>
            <a:cxnSpLocks/>
          </p:cNvCxnSpPr>
          <p:nvPr/>
        </p:nvCxnSpPr>
        <p:spPr>
          <a:xfrm flipV="1">
            <a:off x="2139715" y="4972050"/>
            <a:ext cx="1117835" cy="38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B8361AF2-D9F5-5FF7-AB45-9ABAE16A0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34907"/>
            <a:ext cx="3971925" cy="4656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/>
              <a:t>1. </a:t>
            </a:r>
            <a:r>
              <a:rPr lang="ko-KR" altLang="en-US" sz="1600" dirty="0"/>
              <a:t>매 분마다 데이터를 수집하는 앱 제작</a:t>
            </a:r>
            <a:endParaRPr lang="en-US" altLang="ko-KR" sz="16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A508344-6C5A-4A7E-AD6C-9A6892D19519}"/>
              </a:ext>
            </a:extLst>
          </p:cNvPr>
          <p:cNvCxnSpPr>
            <a:cxnSpLocks/>
          </p:cNvCxnSpPr>
          <p:nvPr/>
        </p:nvCxnSpPr>
        <p:spPr>
          <a:xfrm flipH="1" flipV="1">
            <a:off x="2858937" y="1470229"/>
            <a:ext cx="760563" cy="1559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B248C925-F32F-DFB6-D1C0-C047FEDC8501}"/>
              </a:ext>
            </a:extLst>
          </p:cNvPr>
          <p:cNvSpPr txBox="1">
            <a:spLocks/>
          </p:cNvSpPr>
          <p:nvPr/>
        </p:nvSpPr>
        <p:spPr>
          <a:xfrm>
            <a:off x="1428637" y="2197096"/>
            <a:ext cx="2190863" cy="465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/>
              <a:t>2. </a:t>
            </a:r>
            <a:r>
              <a:rPr lang="ko-KR" altLang="en-US" sz="1600" dirty="0"/>
              <a:t>데이터 요청</a:t>
            </a:r>
            <a:endParaRPr lang="en-US" altLang="ko-KR" sz="16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989C81E-B5F7-641B-9BDB-A2F9CDB4516D}"/>
              </a:ext>
            </a:extLst>
          </p:cNvPr>
          <p:cNvCxnSpPr>
            <a:cxnSpLocks/>
          </p:cNvCxnSpPr>
          <p:nvPr/>
        </p:nvCxnSpPr>
        <p:spPr>
          <a:xfrm>
            <a:off x="3838348" y="1392466"/>
            <a:ext cx="644967" cy="1326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A765E4F-60EA-1F37-2152-DB39197E865D}"/>
              </a:ext>
            </a:extLst>
          </p:cNvPr>
          <p:cNvSpPr txBox="1">
            <a:spLocks/>
          </p:cNvSpPr>
          <p:nvPr/>
        </p:nvSpPr>
        <p:spPr>
          <a:xfrm>
            <a:off x="4033916" y="1467522"/>
            <a:ext cx="2190863" cy="465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/>
              <a:t>3. </a:t>
            </a:r>
            <a:r>
              <a:rPr lang="ko-KR" altLang="en-US" sz="1600" dirty="0"/>
              <a:t>데이터 수신</a:t>
            </a:r>
            <a:endParaRPr lang="en-US" altLang="ko-KR" sz="1600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40FD820-6406-79E7-FEB6-23808BA6C77B}"/>
              </a:ext>
            </a:extLst>
          </p:cNvPr>
          <p:cNvCxnSpPr>
            <a:cxnSpLocks/>
          </p:cNvCxnSpPr>
          <p:nvPr/>
        </p:nvCxnSpPr>
        <p:spPr>
          <a:xfrm flipV="1">
            <a:off x="5524500" y="2595276"/>
            <a:ext cx="1000125" cy="709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839DD481-3474-EB70-AB55-9B695411E756}"/>
              </a:ext>
            </a:extLst>
          </p:cNvPr>
          <p:cNvSpPr txBox="1">
            <a:spLocks/>
          </p:cNvSpPr>
          <p:nvPr/>
        </p:nvSpPr>
        <p:spPr>
          <a:xfrm>
            <a:off x="5964932" y="2954503"/>
            <a:ext cx="2464693" cy="465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/>
              <a:t>4. </a:t>
            </a:r>
            <a:r>
              <a:rPr lang="ko-KR" altLang="en-US" sz="1600" dirty="0"/>
              <a:t>데이터 가공 후 송신</a:t>
            </a:r>
            <a:endParaRPr lang="en-US" altLang="ko-KR" sz="16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4CDFC27-D48D-4ADE-F6F7-12F2059C2B1E}"/>
              </a:ext>
            </a:extLst>
          </p:cNvPr>
          <p:cNvCxnSpPr>
            <a:cxnSpLocks/>
          </p:cNvCxnSpPr>
          <p:nvPr/>
        </p:nvCxnSpPr>
        <p:spPr>
          <a:xfrm>
            <a:off x="9355140" y="2719218"/>
            <a:ext cx="573022" cy="785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내용 개체 틀 2">
            <a:extLst>
              <a:ext uri="{FF2B5EF4-FFF2-40B4-BE49-F238E27FC236}">
                <a16:creationId xmlns:a16="http://schemas.microsoft.com/office/drawing/2014/main" id="{86F042A6-71FE-8974-FE98-FA0211BFF3B2}"/>
              </a:ext>
            </a:extLst>
          </p:cNvPr>
          <p:cNvSpPr txBox="1">
            <a:spLocks/>
          </p:cNvSpPr>
          <p:nvPr/>
        </p:nvSpPr>
        <p:spPr>
          <a:xfrm>
            <a:off x="9685812" y="2661525"/>
            <a:ext cx="1712901" cy="465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/>
              <a:t>5. </a:t>
            </a:r>
            <a:r>
              <a:rPr lang="ko-KR" altLang="en-US" sz="1600" dirty="0"/>
              <a:t>데이터 저장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57963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34DA9-A853-59A9-3677-1B7396A9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CA588D-4425-8437-EB94-CE123C132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193891-CC09-9B4F-5300-5341EC75F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지인의 도움을 받아서 거래량이 높은 아이템을 선별함</a:t>
            </a:r>
            <a:endParaRPr lang="en-US" altLang="ko-KR" dirty="0"/>
          </a:p>
          <a:p>
            <a:r>
              <a:rPr lang="ko-KR" altLang="en-US" dirty="0"/>
              <a:t>강화재료</a:t>
            </a:r>
            <a:r>
              <a:rPr lang="en-US" altLang="ko-KR" dirty="0"/>
              <a:t>, </a:t>
            </a:r>
            <a:r>
              <a:rPr lang="ko-KR" altLang="en-US" dirty="0"/>
              <a:t>강화보조재료</a:t>
            </a:r>
            <a:r>
              <a:rPr lang="en-US" altLang="ko-KR" dirty="0"/>
              <a:t>, </a:t>
            </a:r>
            <a:r>
              <a:rPr lang="ko-KR" altLang="en-US" dirty="0"/>
              <a:t>보석</a:t>
            </a:r>
            <a:r>
              <a:rPr lang="en-US" altLang="ko-KR" dirty="0"/>
              <a:t>, </a:t>
            </a:r>
            <a:r>
              <a:rPr lang="ko-KR" altLang="en-US" dirty="0" err="1"/>
              <a:t>젬</a:t>
            </a:r>
            <a:r>
              <a:rPr lang="en-US" altLang="ko-KR" dirty="0"/>
              <a:t>(</a:t>
            </a:r>
            <a:r>
              <a:rPr lang="ko-KR" altLang="en-US" dirty="0"/>
              <a:t>보석이랑 다름</a:t>
            </a:r>
            <a:r>
              <a:rPr lang="en-US" altLang="ko-KR" dirty="0"/>
              <a:t>), </a:t>
            </a:r>
            <a:r>
              <a:rPr lang="ko-KR" altLang="en-US" dirty="0"/>
              <a:t>각인서</a:t>
            </a:r>
            <a:r>
              <a:rPr lang="en-US" altLang="ko-KR" dirty="0"/>
              <a:t>, </a:t>
            </a:r>
            <a:r>
              <a:rPr lang="ko-KR" altLang="en-US" dirty="0"/>
              <a:t>생활재료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6B8BA1-E695-3C4C-7455-6107D07BA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66" y="3631241"/>
            <a:ext cx="3896709" cy="24009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CBB1052-F16F-2BBF-E03C-BD50CD5B7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07" y="3633355"/>
            <a:ext cx="3976878" cy="239884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1E8139-2CBA-FFEC-12DF-F43BDD13F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59" y="3633355"/>
            <a:ext cx="3854576" cy="239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80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953D-041C-57E3-882C-69076A77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CCAEC0-F790-0F81-6ADE-28E756A92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15BEB6-5ECC-D6F6-3D94-96D64D1CA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93" y="1590316"/>
            <a:ext cx="9091013" cy="488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97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F6708-03B9-0958-F586-1C585BA7E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2C122-99EE-FEC8-3506-7A4F0313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C50BDC-E29E-E544-27C5-802535EED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수집 </a:t>
            </a:r>
            <a:r>
              <a:rPr lang="en-US" altLang="ko-KR" dirty="0"/>
              <a:t>– </a:t>
            </a:r>
            <a:r>
              <a:rPr lang="ko-KR" altLang="en-US" dirty="0"/>
              <a:t>보석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수집전략</a:t>
            </a:r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6</a:t>
            </a:r>
            <a:r>
              <a:rPr lang="ko-KR" altLang="en-US" dirty="0"/>
              <a:t>개의 레벨에 대한 데이터 수집</a:t>
            </a:r>
            <a:endParaRPr lang="en-US" altLang="ko-KR" dirty="0"/>
          </a:p>
          <a:p>
            <a:pPr lvl="2"/>
            <a:r>
              <a:rPr lang="en-US" altLang="ko-KR" dirty="0"/>
              <a:t>5, 6, 7, 8, 9, 10</a:t>
            </a:r>
          </a:p>
          <a:p>
            <a:pPr lvl="1"/>
            <a:r>
              <a:rPr lang="en-US" altLang="ko-KR" dirty="0"/>
              <a:t>4</a:t>
            </a:r>
            <a:r>
              <a:rPr lang="ko-KR" altLang="en-US" dirty="0" err="1"/>
              <a:t>티어</a:t>
            </a:r>
            <a:r>
              <a:rPr lang="ko-KR" altLang="en-US" dirty="0"/>
              <a:t> 보석만이 유효</a:t>
            </a:r>
            <a:endParaRPr lang="en-US" altLang="ko-KR" dirty="0"/>
          </a:p>
          <a:p>
            <a:pPr lvl="1"/>
            <a:r>
              <a:rPr lang="ko-KR" altLang="en-US" dirty="0"/>
              <a:t>즉시구매가 기준 오름차순으로 정렬</a:t>
            </a:r>
            <a:endParaRPr lang="en-US" altLang="ko-KR" dirty="0"/>
          </a:p>
          <a:p>
            <a:pPr lvl="1"/>
            <a:r>
              <a:rPr lang="ko-KR" altLang="en-US" dirty="0"/>
              <a:t>레벨별로 제일 저렴한 </a:t>
            </a:r>
            <a:r>
              <a:rPr lang="en-US" altLang="ko-KR" dirty="0"/>
              <a:t>10</a:t>
            </a:r>
            <a:r>
              <a:rPr lang="ko-KR" altLang="en-US" dirty="0"/>
              <a:t>개의 보석의 </a:t>
            </a:r>
            <a:r>
              <a:rPr lang="ko-KR" altLang="en-US" dirty="0" err="1"/>
              <a:t>즉시구매가를</a:t>
            </a:r>
            <a:r>
              <a:rPr lang="ko-KR" altLang="en-US" dirty="0"/>
              <a:t> 수집</a:t>
            </a:r>
            <a:endParaRPr lang="en-US" altLang="ko-KR" dirty="0"/>
          </a:p>
          <a:p>
            <a:pPr lvl="2"/>
            <a:r>
              <a:rPr lang="ko-KR" altLang="en-US" dirty="0"/>
              <a:t>보석의 경우 </a:t>
            </a:r>
            <a:r>
              <a:rPr lang="ko-KR" altLang="en-US" dirty="0" err="1"/>
              <a:t>빨리팔고</a:t>
            </a:r>
            <a:r>
              <a:rPr lang="ko-KR" altLang="en-US" dirty="0"/>
              <a:t> 싶은 </a:t>
            </a:r>
            <a:r>
              <a:rPr lang="ko-KR" altLang="en-US" dirty="0" err="1"/>
              <a:t>심리때문에</a:t>
            </a:r>
            <a:endParaRPr lang="en-US" altLang="ko-KR" dirty="0"/>
          </a:p>
          <a:p>
            <a:pPr lvl="2"/>
            <a:r>
              <a:rPr lang="ko-KR" altLang="en-US" dirty="0"/>
              <a:t>터무니없이 낮은 가격에 올라오는 경우가 있음</a:t>
            </a:r>
            <a:endParaRPr lang="en-US" altLang="ko-KR" dirty="0"/>
          </a:p>
          <a:p>
            <a:pPr lvl="2"/>
            <a:r>
              <a:rPr lang="ko-KR" altLang="en-US" dirty="0"/>
              <a:t>추후 하위 </a:t>
            </a:r>
            <a:r>
              <a:rPr lang="en-US" altLang="ko-KR" dirty="0"/>
              <a:t>10</a:t>
            </a:r>
            <a:r>
              <a:rPr lang="ko-KR" altLang="en-US" dirty="0"/>
              <a:t>개 보석의 평균가를 사용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180961-F668-3BA0-D978-3A3E45AD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1601232"/>
            <a:ext cx="742950" cy="7429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0A8B02B-7B2B-A569-04B9-4D5F2C36B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436" y="1114769"/>
            <a:ext cx="5665843" cy="341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0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4B72-7583-63D4-668F-455B48C2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F345DCE7-9F44-E3C2-9527-F82511937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46159ED-393B-F963-27F0-C6C8A37D9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73" y="3030214"/>
            <a:ext cx="1563757" cy="1563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C3953FE-96FC-2B2C-11E2-FC30352FB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362" y="2688143"/>
            <a:ext cx="2247900" cy="2247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ED493D8-41B1-B451-6C22-30916B190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394" y="2751168"/>
            <a:ext cx="1965436" cy="1965436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A6C4CAB-A3E3-29A8-D606-9354A5019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9544049" y="3030214"/>
            <a:ext cx="1563757" cy="156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05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53-5FC7-020E-6283-98E029D8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1B640-9AA0-6645-1B8D-48839496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8A8984-A8A3-E4C9-BF56-CA8A42852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14" y="3230467"/>
            <a:ext cx="7246164" cy="28984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1CB0201-3D50-9234-FA2C-3C35B1DE49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26" t="17094" r="29905" b="15162"/>
          <a:stretch>
            <a:fillRect/>
          </a:stretch>
        </p:blipFill>
        <p:spPr>
          <a:xfrm>
            <a:off x="7839075" y="3154266"/>
            <a:ext cx="3962399" cy="315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40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65779-95B5-1A98-D65E-9424777A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9EF7DCF-A9CE-2BF6-6725-F0C35A3A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0D2B854-1B27-7B1E-8F2B-6CBEEE6F0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11" y="1500190"/>
            <a:ext cx="2462616" cy="519885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1AE86B6-0466-E5BC-9A24-59C5A4A3F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415" y="1500189"/>
            <a:ext cx="2462616" cy="5198855"/>
          </a:xfrm>
          <a:prstGeom prst="rect">
            <a:avLst/>
          </a:prstGeom>
        </p:spPr>
      </p:pic>
      <p:pic>
        <p:nvPicPr>
          <p:cNvPr id="4" name="내용 개체 틀 6" descr="텍스트, 전자 기기, 정보기기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E4C24A-04FB-7F21-4F66-FFD8B9ECFA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44552" y="2156498"/>
            <a:ext cx="5190201" cy="389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6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9F08F-1A54-12C3-8DD2-42381EF5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7C60FC9F-BED3-6823-684D-DE42917B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7AD803-C0F6-3B55-1CEB-55E17FDDE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4" y="1327020"/>
            <a:ext cx="8246146" cy="38599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C522AA6-013C-9A05-EE98-7481A19BF4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92" t="48788" r="62806" b="4743"/>
          <a:stretch>
            <a:fillRect/>
          </a:stretch>
        </p:blipFill>
        <p:spPr>
          <a:xfrm>
            <a:off x="3867931" y="2799746"/>
            <a:ext cx="8246146" cy="395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569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0613-B402-E1D5-B469-44E0F86E0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8687A-7BFC-7EE3-51CE-76ECCD4F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EE38F-D870-F51C-DF17-87D0B930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판다스의</a:t>
            </a:r>
            <a:r>
              <a:rPr lang="ko-KR" altLang="en-US" dirty="0"/>
              <a:t> 데이터프레임에 축적된 데이터를 넣으려 했으나</a:t>
            </a:r>
            <a:endParaRPr lang="en-US" altLang="ko-KR" dirty="0"/>
          </a:p>
          <a:p>
            <a:r>
              <a:rPr lang="ko-KR" altLang="en-US" dirty="0" err="1"/>
              <a:t>파이썬을</a:t>
            </a:r>
            <a:r>
              <a:rPr lang="ko-KR" altLang="en-US" dirty="0"/>
              <a:t> 통해 포맷하여 넣는데 시간이 너무 </a:t>
            </a:r>
            <a:r>
              <a:rPr lang="ko-KR" altLang="en-US" dirty="0" err="1"/>
              <a:t>오래걸림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데이터프레임에 넣기 좋은 형태로 양식을 변환하는 프로그램 개발</a:t>
            </a:r>
          </a:p>
        </p:txBody>
      </p:sp>
    </p:spTree>
    <p:extLst>
      <p:ext uri="{BB962C8B-B14F-4D97-AF65-F5344CB8AC3E}">
        <p14:creationId xmlns:p14="http://schemas.microsoft.com/office/powerpoint/2010/main" val="1689346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6E06-8420-5735-A710-6C5778AE3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9F645-ACA6-AD1E-E7DD-00670ECF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D7D3042-FC43-DA7E-E03E-D9E16EAD4485}"/>
              </a:ext>
            </a:extLst>
          </p:cNvPr>
          <p:cNvSpPr txBox="1">
            <a:spLocks/>
          </p:cNvSpPr>
          <p:nvPr/>
        </p:nvSpPr>
        <p:spPr>
          <a:xfrm>
            <a:off x="7097229" y="1680898"/>
            <a:ext cx="4482123" cy="459104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[</a:t>
            </a:r>
          </a:p>
          <a:p>
            <a:r>
              <a:rPr lang="en-US" altLang="ko-KR" dirty="0"/>
              <a:t>  {</a:t>
            </a:r>
          </a:p>
          <a:p>
            <a:r>
              <a:rPr lang="en-US" altLang="ko-KR" dirty="0"/>
              <a:t>    "date":"20250927 0418",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일반 운명의 </a:t>
            </a:r>
            <a:r>
              <a:rPr lang="ko-KR" altLang="en-US" dirty="0" err="1"/>
              <a:t>수호석</a:t>
            </a:r>
            <a:r>
              <a:rPr lang="en-US" altLang="ko-KR" dirty="0"/>
              <a:t>":"2",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일반 운명의 </a:t>
            </a:r>
            <a:r>
              <a:rPr lang="ko-KR" altLang="en-US" dirty="0" err="1"/>
              <a:t>파괴석</a:t>
            </a:r>
            <a:r>
              <a:rPr lang="en-US" altLang="ko-KR" dirty="0"/>
              <a:t>":"37",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고급 운명의 파편 주머니</a:t>
            </a:r>
            <a:r>
              <a:rPr lang="en-US" altLang="ko-KR" dirty="0"/>
              <a:t>(</a:t>
            </a:r>
            <a:r>
              <a:rPr lang="ko-KR" altLang="en-US" dirty="0"/>
              <a:t>소</a:t>
            </a:r>
            <a:r>
              <a:rPr lang="en-US" altLang="ko-KR" dirty="0"/>
              <a:t>)":"175",</a:t>
            </a:r>
          </a:p>
          <a:p>
            <a:r>
              <a:rPr lang="en-US" altLang="ko-KR" dirty="0"/>
              <a:t>    … 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유물 </a:t>
            </a:r>
            <a:r>
              <a:rPr lang="en-US" altLang="ko-KR" dirty="0"/>
              <a:t>8</a:t>
            </a:r>
            <a:r>
              <a:rPr lang="ko-KR" altLang="en-US" dirty="0"/>
              <a:t>레벨 보석</a:t>
            </a:r>
            <a:r>
              <a:rPr lang="en-US" altLang="ko-KR" dirty="0"/>
              <a:t>":"242228.9",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유물 </a:t>
            </a:r>
            <a:r>
              <a:rPr lang="en-US" altLang="ko-KR" dirty="0"/>
              <a:t>9</a:t>
            </a:r>
            <a:r>
              <a:rPr lang="ko-KR" altLang="en-US" dirty="0"/>
              <a:t>레벨 보석</a:t>
            </a:r>
            <a:r>
              <a:rPr lang="en-US" altLang="ko-KR" dirty="0"/>
              <a:t>":"706950",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고대 </a:t>
            </a:r>
            <a:r>
              <a:rPr lang="en-US" altLang="ko-KR" dirty="0"/>
              <a:t>10</a:t>
            </a:r>
            <a:r>
              <a:rPr lang="ko-KR" altLang="en-US" dirty="0"/>
              <a:t>레벨 보석</a:t>
            </a:r>
            <a:r>
              <a:rPr lang="en-US" altLang="ko-KR" dirty="0"/>
              <a:t>":"1949299.9“</a:t>
            </a:r>
          </a:p>
          <a:p>
            <a:r>
              <a:rPr lang="en-US" altLang="ko-KR" dirty="0"/>
              <a:t>  }, … </a:t>
            </a:r>
          </a:p>
          <a:p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DA5416D-5117-92D8-EEC3-EA9713915AD9}"/>
              </a:ext>
            </a:extLst>
          </p:cNvPr>
          <p:cNvSpPr txBox="1">
            <a:spLocks/>
          </p:cNvSpPr>
          <p:nvPr/>
        </p:nvSpPr>
        <p:spPr>
          <a:xfrm>
            <a:off x="105197" y="2910841"/>
            <a:ext cx="6086054" cy="140398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"20250927 0418", "</a:t>
            </a:r>
            <a:r>
              <a:rPr lang="ko-KR" altLang="en-US" dirty="0"/>
              <a:t>일반 운명의 </a:t>
            </a:r>
            <a:r>
              <a:rPr lang="ko-KR" altLang="en-US" dirty="0" err="1"/>
              <a:t>수호석</a:t>
            </a:r>
            <a:r>
              <a:rPr lang="en-US" altLang="ko-KR" dirty="0"/>
              <a:t>=2,</a:t>
            </a:r>
            <a:r>
              <a:rPr lang="ko-KR" altLang="en-US" dirty="0"/>
              <a:t>일반 운명의 </a:t>
            </a:r>
            <a:r>
              <a:rPr lang="ko-KR" altLang="en-US" dirty="0" err="1"/>
              <a:t>파괴석</a:t>
            </a:r>
            <a:r>
              <a:rPr lang="en-US" altLang="ko-KR" dirty="0"/>
              <a:t>=37,</a:t>
            </a:r>
          </a:p>
          <a:p>
            <a:r>
              <a:rPr lang="ko-KR" altLang="en-US" dirty="0"/>
              <a:t>고급 운명의 파편 주머니</a:t>
            </a:r>
            <a:r>
              <a:rPr lang="en-US" altLang="ko-KR" dirty="0"/>
              <a:t>(</a:t>
            </a:r>
            <a:r>
              <a:rPr lang="ko-KR" altLang="en-US" dirty="0"/>
              <a:t>소</a:t>
            </a:r>
            <a:r>
              <a:rPr lang="en-US" altLang="ko-KR" dirty="0"/>
              <a:t>)=175, … ,</a:t>
            </a:r>
            <a:r>
              <a:rPr lang="ko-KR" altLang="en-US" dirty="0"/>
              <a:t>유물 </a:t>
            </a:r>
            <a:r>
              <a:rPr lang="en-US" altLang="ko-KR" dirty="0"/>
              <a:t>8</a:t>
            </a:r>
            <a:r>
              <a:rPr lang="ko-KR" altLang="en-US" dirty="0"/>
              <a:t>레벨 보석</a:t>
            </a:r>
            <a:r>
              <a:rPr lang="en-US" altLang="ko-KR" dirty="0"/>
              <a:t>=242228.9,</a:t>
            </a:r>
          </a:p>
          <a:p>
            <a:r>
              <a:rPr lang="ko-KR" altLang="en-US" dirty="0"/>
              <a:t>유물 </a:t>
            </a:r>
            <a:r>
              <a:rPr lang="en-US" altLang="ko-KR" dirty="0"/>
              <a:t>9</a:t>
            </a:r>
            <a:r>
              <a:rPr lang="ko-KR" altLang="en-US" dirty="0"/>
              <a:t>레벨 보석</a:t>
            </a:r>
            <a:r>
              <a:rPr lang="en-US" altLang="ko-KR" dirty="0"/>
              <a:t>=706950,</a:t>
            </a:r>
            <a:r>
              <a:rPr lang="ko-KR" altLang="en-US" dirty="0"/>
              <a:t>고대 </a:t>
            </a:r>
            <a:r>
              <a:rPr lang="en-US" altLang="ko-KR" dirty="0"/>
              <a:t>10</a:t>
            </a:r>
            <a:r>
              <a:rPr lang="ko-KR" altLang="en-US" dirty="0"/>
              <a:t>레벨 보석</a:t>
            </a:r>
            <a:r>
              <a:rPr lang="en-US" altLang="ko-KR" dirty="0"/>
              <a:t>=1949299.9“</a:t>
            </a:r>
          </a:p>
          <a:p>
            <a:r>
              <a:rPr lang="en-US" altLang="ko-KR" dirty="0"/>
              <a:t>… </a:t>
            </a:r>
          </a:p>
          <a:p>
            <a:endParaRPr lang="ko-KR" altLang="en-US" dirty="0"/>
          </a:p>
        </p:txBody>
      </p:sp>
      <p:sp>
        <p:nvSpPr>
          <p:cNvPr id="9" name="화살표: 굽음 8">
            <a:extLst>
              <a:ext uri="{FF2B5EF4-FFF2-40B4-BE49-F238E27FC236}">
                <a16:creationId xmlns:a16="http://schemas.microsoft.com/office/drawing/2014/main" id="{276D3CAC-C78A-768E-FF0F-C2A7390F8B09}"/>
              </a:ext>
            </a:extLst>
          </p:cNvPr>
          <p:cNvSpPr/>
          <p:nvPr/>
        </p:nvSpPr>
        <p:spPr>
          <a:xfrm rot="19882093" flipV="1">
            <a:off x="4924425" y="4147184"/>
            <a:ext cx="1352550" cy="1301116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016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551FF-34D9-0BA7-1BE7-F69BF4F8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4E4E7-F332-AA9E-83B2-260D2BD0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3085CE-C0EB-FE71-DA58-A4A4E7BE8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dirty="0"/>
              <a:t>데이터 준비 완료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11A5907-1C76-78EC-6333-3F4B30628EB0}"/>
              </a:ext>
            </a:extLst>
          </p:cNvPr>
          <p:cNvSpPr txBox="1">
            <a:spLocks/>
          </p:cNvSpPr>
          <p:nvPr/>
        </p:nvSpPr>
        <p:spPr>
          <a:xfrm>
            <a:off x="612647" y="2397522"/>
            <a:ext cx="10653579" cy="467002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ko-KR" dirty="0"/>
              <a:t>&lt;class '</a:t>
            </a:r>
            <a:r>
              <a:rPr lang="en-US" altLang="ko-KR" dirty="0" err="1"/>
              <a:t>pandas.core.frame.DataFrame</a:t>
            </a:r>
            <a:r>
              <a:rPr lang="en-US" altLang="ko-KR" dirty="0"/>
              <a:t>'&gt;</a:t>
            </a:r>
          </a:p>
          <a:p>
            <a:pPr latinLnBrk="1"/>
            <a:r>
              <a:rPr lang="en-US" altLang="ko-KR" dirty="0" err="1"/>
              <a:t>RangeIndex</a:t>
            </a:r>
            <a:r>
              <a:rPr lang="en-US" altLang="ko-KR" dirty="0"/>
              <a:t>: 100743 entries, 0 to 100742</a:t>
            </a:r>
          </a:p>
          <a:p>
            <a:pPr latinLnBrk="1"/>
            <a:r>
              <a:rPr lang="en-US" altLang="ko-KR" dirty="0"/>
              <a:t>Data columns (total 93 columns):</a:t>
            </a:r>
          </a:p>
          <a:p>
            <a:pPr latinLnBrk="1"/>
            <a:r>
              <a:rPr lang="en-US" altLang="ko-KR" dirty="0"/>
              <a:t> #   Column               Non-Null Count   </a:t>
            </a:r>
            <a:r>
              <a:rPr lang="en-US" altLang="ko-KR" dirty="0" err="1"/>
              <a:t>Dtype</a:t>
            </a:r>
            <a:r>
              <a:rPr lang="en-US" altLang="ko-KR" dirty="0"/>
              <a:t>         </a:t>
            </a:r>
          </a:p>
          <a:p>
            <a:pPr latinLnBrk="1"/>
            <a:r>
              <a:rPr lang="en-US" altLang="ko-KR" dirty="0"/>
              <a:t>---  ------               --------------   -----         </a:t>
            </a:r>
          </a:p>
          <a:p>
            <a:pPr latinLnBrk="1"/>
            <a:r>
              <a:rPr lang="en-US" altLang="ko-KR" dirty="0"/>
              <a:t> 0   date                 100743 non-null  datetime64[ns]</a:t>
            </a:r>
          </a:p>
          <a:p>
            <a:pPr latinLnBrk="1"/>
            <a:r>
              <a:rPr lang="en-US" altLang="ko-KR" dirty="0"/>
              <a:t> 1   </a:t>
            </a:r>
            <a:r>
              <a:rPr lang="ko-KR" altLang="en-US" dirty="0"/>
              <a:t>일반 운명의 </a:t>
            </a:r>
            <a:r>
              <a:rPr lang="ko-KR" altLang="en-US" dirty="0" err="1"/>
              <a:t>수호석</a:t>
            </a:r>
            <a:r>
              <a:rPr lang="ko-KR" altLang="en-US" dirty="0"/>
              <a:t>           </a:t>
            </a:r>
            <a:r>
              <a:rPr lang="en-US" altLang="ko-KR" dirty="0"/>
              <a:t>100743 non-null  float32       </a:t>
            </a:r>
          </a:p>
          <a:p>
            <a:pPr latinLnBrk="1"/>
            <a:r>
              <a:rPr lang="en-US" altLang="ko-KR" dirty="0"/>
              <a:t> 2   </a:t>
            </a:r>
            <a:r>
              <a:rPr lang="ko-KR" altLang="en-US" dirty="0"/>
              <a:t>일반 운명의 </a:t>
            </a:r>
            <a:r>
              <a:rPr lang="ko-KR" altLang="en-US" dirty="0" err="1"/>
              <a:t>파괴석</a:t>
            </a:r>
            <a:r>
              <a:rPr lang="ko-KR" altLang="en-US" dirty="0"/>
              <a:t>           </a:t>
            </a:r>
            <a:r>
              <a:rPr lang="en-US" altLang="ko-KR" dirty="0"/>
              <a:t>100743 non-null  float32       </a:t>
            </a:r>
          </a:p>
          <a:p>
            <a:pPr latinLnBrk="1"/>
            <a:r>
              <a:rPr lang="en-US" altLang="ko-KR" dirty="0"/>
              <a:t> 3   </a:t>
            </a:r>
            <a:r>
              <a:rPr lang="ko-KR" altLang="en-US" dirty="0"/>
              <a:t>고급 운명의 파편 주머니</a:t>
            </a:r>
            <a:r>
              <a:rPr lang="en-US" altLang="ko-KR" dirty="0"/>
              <a:t>(</a:t>
            </a:r>
            <a:r>
              <a:rPr lang="ko-KR" altLang="en-US" dirty="0"/>
              <a:t>소</a:t>
            </a:r>
            <a:r>
              <a:rPr lang="en-US" altLang="ko-KR" dirty="0"/>
              <a:t>)     100743 non-null  float32       </a:t>
            </a:r>
          </a:p>
          <a:p>
            <a:pPr latinLnBrk="1"/>
            <a:r>
              <a:rPr lang="en-US" altLang="ko-KR" dirty="0"/>
              <a:t> 4   </a:t>
            </a:r>
            <a:r>
              <a:rPr lang="ko-KR" altLang="en-US" dirty="0"/>
              <a:t>희귀 운명의 </a:t>
            </a:r>
            <a:r>
              <a:rPr lang="ko-KR" altLang="en-US" dirty="0" err="1"/>
              <a:t>돌파석</a:t>
            </a:r>
            <a:r>
              <a:rPr lang="ko-KR" altLang="en-US" dirty="0"/>
              <a:t>           </a:t>
            </a:r>
            <a:r>
              <a:rPr lang="en-US" altLang="ko-KR" dirty="0"/>
              <a:t>100743 non-null  float32</a:t>
            </a:r>
          </a:p>
          <a:p>
            <a:pPr latinLnBrk="1"/>
            <a:r>
              <a:rPr lang="en-US" altLang="ko-KR" dirty="0"/>
              <a:t>…</a:t>
            </a:r>
          </a:p>
          <a:p>
            <a:pPr latinLnBrk="1"/>
            <a:r>
              <a:rPr lang="en-US" altLang="ko-KR" dirty="0"/>
              <a:t> 90  </a:t>
            </a:r>
            <a:r>
              <a:rPr lang="ko-KR" altLang="en-US" dirty="0"/>
              <a:t>유물 </a:t>
            </a:r>
            <a:r>
              <a:rPr lang="en-US" altLang="ko-KR" dirty="0"/>
              <a:t>8</a:t>
            </a:r>
            <a:r>
              <a:rPr lang="ko-KR" altLang="en-US" dirty="0"/>
              <a:t>레벨 보석            </a:t>
            </a:r>
            <a:r>
              <a:rPr lang="en-US" altLang="ko-KR" dirty="0"/>
              <a:t>100743 non-null  float32       </a:t>
            </a:r>
          </a:p>
          <a:p>
            <a:pPr latinLnBrk="1"/>
            <a:r>
              <a:rPr lang="en-US" altLang="ko-KR" dirty="0"/>
              <a:t> 91  </a:t>
            </a:r>
            <a:r>
              <a:rPr lang="ko-KR" altLang="en-US" dirty="0"/>
              <a:t>유물 </a:t>
            </a:r>
            <a:r>
              <a:rPr lang="en-US" altLang="ko-KR" dirty="0"/>
              <a:t>9</a:t>
            </a:r>
            <a:r>
              <a:rPr lang="ko-KR" altLang="en-US" dirty="0"/>
              <a:t>레벨 보석            </a:t>
            </a:r>
            <a:r>
              <a:rPr lang="en-US" altLang="ko-KR" dirty="0"/>
              <a:t>100743 non-null  float32       </a:t>
            </a:r>
          </a:p>
          <a:p>
            <a:pPr latinLnBrk="1"/>
            <a:r>
              <a:rPr lang="en-US" altLang="ko-KR" dirty="0"/>
              <a:t> 92  </a:t>
            </a:r>
            <a:r>
              <a:rPr lang="ko-KR" altLang="en-US" dirty="0"/>
              <a:t>고대 </a:t>
            </a:r>
            <a:r>
              <a:rPr lang="en-US" altLang="ko-KR" dirty="0"/>
              <a:t>10</a:t>
            </a:r>
            <a:r>
              <a:rPr lang="ko-KR" altLang="en-US" dirty="0"/>
              <a:t>레벨 보석           </a:t>
            </a:r>
            <a:r>
              <a:rPr lang="en-US" altLang="ko-KR" dirty="0"/>
              <a:t>100743 non-null  float32       </a:t>
            </a:r>
          </a:p>
          <a:p>
            <a:pPr latinLnBrk="1"/>
            <a:r>
              <a:rPr lang="en-US" altLang="ko-KR" dirty="0" err="1"/>
              <a:t>dtypes</a:t>
            </a:r>
            <a:r>
              <a:rPr lang="en-US" altLang="ko-KR" dirty="0"/>
              <a:t>: datetime64[ns](1), float32(92)</a:t>
            </a:r>
          </a:p>
          <a:p>
            <a:pPr latinLnBrk="1"/>
            <a:r>
              <a:rPr lang="en-US" altLang="ko-KR" dirty="0"/>
              <a:t>memory usage: 36.1 MB</a:t>
            </a:r>
          </a:p>
          <a:p>
            <a:pPr latinLnBrk="1"/>
            <a:r>
              <a:rPr lang="en-US" altLang="ko-KR" dirty="0"/>
              <a:t>None</a:t>
            </a:r>
          </a:p>
          <a:p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951A30B-3A98-CECA-66B8-D59BAC5A993F}"/>
              </a:ext>
            </a:extLst>
          </p:cNvPr>
          <p:cNvSpPr txBox="1">
            <a:spLocks/>
          </p:cNvSpPr>
          <p:nvPr/>
        </p:nvSpPr>
        <p:spPr>
          <a:xfrm>
            <a:off x="3724275" y="2385219"/>
            <a:ext cx="8383905" cy="3574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ko-KR" dirty="0"/>
              <a:t>                                      date  </a:t>
            </a:r>
            <a:r>
              <a:rPr lang="ko-KR" altLang="en-US" dirty="0"/>
              <a:t>일반 운명의 </a:t>
            </a:r>
            <a:r>
              <a:rPr lang="ko-KR" altLang="en-US" dirty="0" err="1"/>
              <a:t>수호석</a:t>
            </a:r>
            <a:r>
              <a:rPr lang="ko-KR" altLang="en-US" dirty="0"/>
              <a:t>  일반 운명의 </a:t>
            </a:r>
            <a:r>
              <a:rPr lang="ko-KR" altLang="en-US" dirty="0" err="1"/>
              <a:t>파괴석</a:t>
            </a:r>
            <a:r>
              <a:rPr lang="ko-KR" altLang="en-US" dirty="0"/>
              <a:t>  고급 운명의 파편 주머니</a:t>
            </a:r>
            <a:r>
              <a:rPr lang="en-US" altLang="ko-KR" dirty="0"/>
              <a:t>(</a:t>
            </a:r>
            <a:r>
              <a:rPr lang="ko-KR" altLang="en-US" dirty="0"/>
              <a:t>소</a:t>
            </a:r>
            <a:r>
              <a:rPr lang="en-US" altLang="ko-KR" dirty="0"/>
              <a:t>)  </a:t>
            </a:r>
            <a:r>
              <a:rPr lang="ko-KR" altLang="en-US" dirty="0"/>
              <a:t>희귀 운명의 </a:t>
            </a:r>
            <a:r>
              <a:rPr lang="ko-KR" altLang="en-US" dirty="0" err="1"/>
              <a:t>돌파석</a:t>
            </a:r>
            <a:r>
              <a:rPr lang="ko-KR" altLang="en-US" dirty="0"/>
              <a:t>   </a:t>
            </a:r>
            <a:r>
              <a:rPr lang="en-US" altLang="ko-KR" dirty="0"/>
              <a:t>...    </a:t>
            </a:r>
            <a:r>
              <a:rPr lang="ko-KR" altLang="en-US" dirty="0"/>
              <a:t>유물 </a:t>
            </a:r>
            <a:r>
              <a:rPr lang="en-US" altLang="ko-KR" dirty="0"/>
              <a:t>8</a:t>
            </a:r>
            <a:r>
              <a:rPr lang="ko-KR" altLang="en-US" dirty="0"/>
              <a:t>레벨 보석   유물 </a:t>
            </a:r>
            <a:r>
              <a:rPr lang="en-US" altLang="ko-KR" dirty="0"/>
              <a:t>9</a:t>
            </a:r>
            <a:r>
              <a:rPr lang="ko-KR" altLang="en-US" dirty="0"/>
              <a:t>레벨 보석   고대 </a:t>
            </a:r>
            <a:r>
              <a:rPr lang="en-US" altLang="ko-KR" dirty="0"/>
              <a:t>10</a:t>
            </a:r>
            <a:r>
              <a:rPr lang="ko-KR" altLang="en-US" dirty="0"/>
              <a:t>레벨 보석</a:t>
            </a:r>
          </a:p>
          <a:p>
            <a:pPr latinLnBrk="1"/>
            <a:r>
              <a:rPr lang="en-US" altLang="ko-KR" dirty="0"/>
              <a:t>0      2025-09-27 04:18:00                            2.0                           37.0                                       175.0                            6.0   ...   242228.906250            706950.0         1949299.875</a:t>
            </a:r>
          </a:p>
          <a:p>
            <a:pPr latinLnBrk="1"/>
            <a:r>
              <a:rPr lang="en-US" altLang="ko-KR" dirty="0"/>
              <a:t>1      2025-09-27 04:19:00                             2.0                           37.0                                       175.0                            6.0   ...     242117.796875            706950.0         1949299.875</a:t>
            </a:r>
          </a:p>
          <a:p>
            <a:pPr latinLnBrk="1"/>
            <a:r>
              <a:rPr lang="en-US" altLang="ko-KR" dirty="0"/>
              <a:t>2      2025-09-27 04:20:00                           2.0                           37.0                                       175.0                            6.0   ...    241637.796875            706950.0         1949299.875</a:t>
            </a:r>
          </a:p>
          <a:p>
            <a:pPr latinLnBrk="1"/>
            <a:r>
              <a:rPr lang="en-US" altLang="ko-KR" dirty="0"/>
              <a:t>3      2025-09-27 04:21:00                            2.0                           38.0                                       177.0                            7.0   ...    241057.796875            706950.0         1949299.875</a:t>
            </a:r>
          </a:p>
          <a:p>
            <a:pPr latinLnBrk="1"/>
            <a:r>
              <a:rPr lang="en-US" altLang="ko-KR" dirty="0"/>
              <a:t>4      2025-09-27 04:22:00                           2.0                           38.0                                       177.0                            7.0   ...   242129.000000           706950.0         1949299.875</a:t>
            </a:r>
          </a:p>
          <a:p>
            <a:pPr latinLnBrk="1"/>
            <a:r>
              <a:rPr lang="en-US" altLang="ko-KR" dirty="0"/>
              <a:t>...                                          ...                             ...                                 ...                                              ...                               ...   ...                              ...                          ...                             ...</a:t>
            </a:r>
          </a:p>
          <a:p>
            <a:pPr latinLnBrk="1"/>
            <a:r>
              <a:rPr lang="en-US" altLang="ko-KR" dirty="0"/>
              <a:t>100738 2025-12-06 01:58:00                      2.0                           85.0                                        311.0                            7.0   ...   292900.000000          857666.0        2385400.000</a:t>
            </a:r>
          </a:p>
          <a:p>
            <a:pPr latinLnBrk="1"/>
            <a:r>
              <a:rPr lang="en-US" altLang="ko-KR" dirty="0"/>
              <a:t>100739 2025-12-06 01:59:00                      3.0                           86.0                                       341.0                            7.0   ...   292800.000000          857666.0        2385400.000</a:t>
            </a:r>
          </a:p>
          <a:p>
            <a:pPr latinLnBrk="1"/>
            <a:r>
              <a:rPr lang="en-US" altLang="ko-KR" dirty="0"/>
              <a:t>100740 2025-12-06 02:00:00                    3.0                           86.0                                       341.0                            7.0   ...   292800.000000          857666.0        2385400.000</a:t>
            </a:r>
          </a:p>
          <a:p>
            <a:pPr latinLnBrk="1"/>
            <a:r>
              <a:rPr lang="en-US" altLang="ko-KR" dirty="0"/>
              <a:t>100741 2025-12-06 02:01:00                      3.0                           86.0                                       341.0                            7.0   ...   292800.000000          857666.0        2385400.000</a:t>
            </a:r>
          </a:p>
          <a:p>
            <a:pPr latinLnBrk="1"/>
            <a:r>
              <a:rPr lang="en-US" altLang="ko-KR" dirty="0"/>
              <a:t>100742 2025-12-06 02:02:00                    3.0                           80.0                                       341.0                            8.0   ...   292900.000000          857666.0        2385400.000</a:t>
            </a:r>
          </a:p>
          <a:p>
            <a:pPr latinLnBrk="1"/>
            <a:endParaRPr lang="en-US" altLang="ko-KR" dirty="0"/>
          </a:p>
          <a:p>
            <a:pPr latinLnBrk="1"/>
            <a:r>
              <a:rPr lang="en-US" altLang="ko-KR" dirty="0"/>
              <a:t>[100743 rows x 9 columns]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9524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0B030-B858-21CC-8444-1FAD5DB5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FD7861-9813-178A-220E-BAB318C1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잘</a:t>
            </a:r>
            <a:r>
              <a:rPr lang="en-US" altLang="ko-KR" dirty="0"/>
              <a:t>~ </a:t>
            </a:r>
            <a:r>
              <a:rPr lang="ko-KR" altLang="en-US" dirty="0"/>
              <a:t>시켰음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B8ECA391-51B1-DB53-63DE-EBA78C964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238EA1-3E14-DD71-799D-433E27167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036" y="143256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01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2AF1-D6CE-D26D-1BDC-1FCAD778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24FA3-5E5A-3DAF-8FE6-DF737989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시각화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298CA5F-55FF-9753-F975-76E7B0FCA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0898"/>
            <a:ext cx="12192000" cy="456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73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7182-5842-27C8-EC3F-491C2188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BB473-368E-2080-45A8-5AADD28F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시각화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0F59DD-6BAF-E2E2-3BC2-0FC9118A9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83"/>
            <a:ext cx="12192000" cy="387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206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CBDC-4F0E-D348-6D70-58DFF28D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7F3EF-73D0-7619-B23D-8B0A8BCD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시각화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F511C0-F413-A191-716A-4B1D07B19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0898"/>
            <a:ext cx="12192000" cy="399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4E19-019F-3D95-448E-33A4B919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5C02A-7BB8-E3E4-9DE2-912A4CE9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기대효과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3B551F-66FB-DC4C-A3D3-86E4B1F4B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학습된 모델을 이용하여 아이템가격의 향후시세를 미리 볼 수 있다면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쌀때</a:t>
            </a:r>
            <a:r>
              <a:rPr lang="ko-KR" altLang="en-US" dirty="0"/>
              <a:t> 사들이고 </a:t>
            </a:r>
            <a:r>
              <a:rPr lang="ko-KR" altLang="en-US" dirty="0" err="1"/>
              <a:t>비쌀때</a:t>
            </a:r>
            <a:r>
              <a:rPr lang="ko-KR" altLang="en-US" dirty="0"/>
              <a:t> 판매하여 이득을 취할 수 있다</a:t>
            </a:r>
          </a:p>
        </p:txBody>
      </p:sp>
    </p:spTree>
    <p:extLst>
      <p:ext uri="{BB962C8B-B14F-4D97-AF65-F5344CB8AC3E}">
        <p14:creationId xmlns:p14="http://schemas.microsoft.com/office/powerpoint/2010/main" val="3837405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책상 위의 가젯">
            <a:extLst>
              <a:ext uri="{FF2B5EF4-FFF2-40B4-BE49-F238E27FC236}">
                <a16:creationId xmlns:a16="http://schemas.microsoft.com/office/drawing/2014/main" id="{A77FCBF1-BCDB-2975-4915-E9B79F5B28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500" b="2050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148FA6EF-A678-2C22-3170-24B635F40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ko-KR" altLang="en-US" sz="5400" dirty="0">
                <a:solidFill>
                  <a:srgbClr val="FFFFFF"/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597645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658</Words>
  <Application>Microsoft Office PowerPoint</Application>
  <PresentationFormat>와이드스크린</PresentationFormat>
  <Paragraphs>114</Paragraphs>
  <Slides>25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Arial</vt:lpstr>
      <vt:lpstr>Neue Haas Grotesk Text Pro</vt:lpstr>
      <vt:lpstr>VanillaVTI</vt:lpstr>
      <vt:lpstr>패키지</vt:lpstr>
      <vt:lpstr>로스트아크 게임속 아이템들의 시세예측</vt:lpstr>
      <vt:lpstr>프로젝트 동기</vt:lpstr>
      <vt:lpstr>데이터 수집 과정</vt:lpstr>
      <vt:lpstr>데이터 수집 과정</vt:lpstr>
      <vt:lpstr>데이터 수집 과정</vt:lpstr>
      <vt:lpstr>데이터 수집 과정</vt:lpstr>
      <vt:lpstr>데이터 수집 과정</vt:lpstr>
      <vt:lpstr>데이터 수집 시스템 구축</vt:lpstr>
      <vt:lpstr>PowerPoint 프레젠테이션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전처리</vt:lpstr>
      <vt:lpstr>전처리</vt:lpstr>
      <vt:lpstr>전처리</vt:lpstr>
      <vt:lpstr>학습</vt:lpstr>
      <vt:lpstr>시각화</vt:lpstr>
      <vt:lpstr>시각화</vt:lpstr>
      <vt:lpstr>시각화</vt:lpstr>
      <vt:lpstr>기대효과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장기성[컴퓨터정보공학과]</dc:creator>
  <cp:lastModifiedBy>장기성[컴퓨터정보공학과]</cp:lastModifiedBy>
  <cp:revision>3</cp:revision>
  <dcterms:created xsi:type="dcterms:W3CDTF">2025-12-06T08:31:56Z</dcterms:created>
  <dcterms:modified xsi:type="dcterms:W3CDTF">2025-12-06T17:22:52Z</dcterms:modified>
</cp:coreProperties>
</file>