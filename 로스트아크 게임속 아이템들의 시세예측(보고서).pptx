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73" r:id="rId15"/>
    <p:sldId id="274" r:id="rId16"/>
    <p:sldId id="276" r:id="rId17"/>
    <p:sldId id="275" r:id="rId18"/>
    <p:sldId id="278" r:id="rId19"/>
    <p:sldId id="279" r:id="rId20"/>
    <p:sldId id="281" r:id="rId21"/>
    <p:sldId id="280" r:id="rId22"/>
    <p:sldId id="282" r:id="rId23"/>
    <p:sldId id="283" r:id="rId24"/>
    <p:sldId id="284" r:id="rId25"/>
    <p:sldId id="285" r:id="rId26"/>
    <p:sldId id="286" r:id="rId27"/>
    <p:sldId id="288" r:id="rId28"/>
    <p:sldId id="287" r:id="rId29"/>
    <p:sldId id="289" r:id="rId30"/>
    <p:sldId id="290" r:id="rId31"/>
    <p:sldId id="291" r:id="rId32"/>
    <p:sldId id="293" r:id="rId33"/>
    <p:sldId id="292" r:id="rId34"/>
    <p:sldId id="269" r:id="rId35"/>
    <p:sldId id="270" r:id="rId36"/>
    <p:sldId id="295" r:id="rId37"/>
    <p:sldId id="296" r:id="rId38"/>
    <p:sldId id="298" r:id="rId39"/>
    <p:sldId id="297" r:id="rId40"/>
    <p:sldId id="299" r:id="rId41"/>
    <p:sldId id="303" r:id="rId42"/>
    <p:sldId id="304" r:id="rId43"/>
    <p:sldId id="305" r:id="rId44"/>
    <p:sldId id="300" r:id="rId45"/>
    <p:sldId id="301" r:id="rId46"/>
    <p:sldId id="308" r:id="rId47"/>
    <p:sldId id="306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36" autoAdjust="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DC5261-1638-4D2F-B710-817884FD8D1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152A37-EA85-4A66-805B-407F2970760D}">
      <dgm:prSet/>
      <dgm:spPr/>
      <dgm:t>
        <a:bodyPr/>
        <a:lstStyle/>
        <a:p>
          <a:r>
            <a:rPr lang="ko-KR"/>
            <a:t>목표로 하는 모델을 학습시키려면 분단위 데이터가 필요</a:t>
          </a:r>
          <a:endParaRPr lang="en-US"/>
        </a:p>
      </dgm:t>
    </dgm:pt>
    <dgm:pt modelId="{7CA91C00-B4AA-4F2C-980E-6EC2C94DAFA0}" type="parTrans" cxnId="{56F55AFB-AC4B-4EEE-9A5E-A1C8D2F240AA}">
      <dgm:prSet/>
      <dgm:spPr/>
      <dgm:t>
        <a:bodyPr/>
        <a:lstStyle/>
        <a:p>
          <a:endParaRPr lang="en-US"/>
        </a:p>
      </dgm:t>
    </dgm:pt>
    <dgm:pt modelId="{861B2BF2-7E89-4E89-B640-2C094207B462}" type="sibTrans" cxnId="{56F55AFB-AC4B-4EEE-9A5E-A1C8D2F240AA}">
      <dgm:prSet/>
      <dgm:spPr/>
      <dgm:t>
        <a:bodyPr/>
        <a:lstStyle/>
        <a:p>
          <a:endParaRPr lang="en-US"/>
        </a:p>
      </dgm:t>
    </dgm:pt>
    <dgm:pt modelId="{15DDABDB-8279-4874-B0A7-BB360E7C1258}">
      <dgm:prSet/>
      <dgm:spPr/>
      <dgm:t>
        <a:bodyPr/>
        <a:lstStyle/>
        <a:p>
          <a:r>
            <a:rPr lang="ko-KR"/>
            <a:t>하지만 과거 데이터는 하루평균 데이터뿐</a:t>
          </a:r>
          <a:endParaRPr lang="en-US"/>
        </a:p>
      </dgm:t>
    </dgm:pt>
    <dgm:pt modelId="{1268DDBA-13F2-4A81-8D58-B3EF2E4AAA9A}" type="parTrans" cxnId="{1700973F-3D6E-48A9-B930-9D44CFD976DA}">
      <dgm:prSet/>
      <dgm:spPr/>
      <dgm:t>
        <a:bodyPr/>
        <a:lstStyle/>
        <a:p>
          <a:endParaRPr lang="en-US"/>
        </a:p>
      </dgm:t>
    </dgm:pt>
    <dgm:pt modelId="{A56D1A4E-3A3E-4DAC-8B92-9629CDA08F44}" type="sibTrans" cxnId="{1700973F-3D6E-48A9-B930-9D44CFD976DA}">
      <dgm:prSet/>
      <dgm:spPr/>
      <dgm:t>
        <a:bodyPr/>
        <a:lstStyle/>
        <a:p>
          <a:endParaRPr lang="en-US"/>
        </a:p>
      </dgm:t>
    </dgm:pt>
    <dgm:pt modelId="{BDDD41C7-61B8-4F0A-A78E-0B7876D94BC7}">
      <dgm:prSet/>
      <dgm:spPr/>
      <dgm:t>
        <a:bodyPr/>
        <a:lstStyle/>
        <a:p>
          <a:r>
            <a:rPr lang="en-US"/>
            <a:t>-&gt; </a:t>
          </a:r>
          <a:r>
            <a:rPr lang="ko-KR"/>
            <a:t>데이터 수집 시스템을 구축 하기로 결정</a:t>
          </a:r>
          <a:endParaRPr lang="en-US"/>
        </a:p>
      </dgm:t>
    </dgm:pt>
    <dgm:pt modelId="{1073E642-95B9-4306-B4F2-87045F2649F3}" type="parTrans" cxnId="{EC22916D-C439-4DD0-A5A0-040427F83BA9}">
      <dgm:prSet/>
      <dgm:spPr/>
      <dgm:t>
        <a:bodyPr/>
        <a:lstStyle/>
        <a:p>
          <a:endParaRPr lang="en-US"/>
        </a:p>
      </dgm:t>
    </dgm:pt>
    <dgm:pt modelId="{2B673BB6-D947-4DD2-B628-66B6AE747AC0}" type="sibTrans" cxnId="{EC22916D-C439-4DD0-A5A0-040427F83BA9}">
      <dgm:prSet/>
      <dgm:spPr/>
      <dgm:t>
        <a:bodyPr/>
        <a:lstStyle/>
        <a:p>
          <a:endParaRPr lang="en-US"/>
        </a:p>
      </dgm:t>
    </dgm:pt>
    <dgm:pt modelId="{BEB3F01B-1372-43C9-95B0-C2BE6959F1B9}" type="pres">
      <dgm:prSet presAssocID="{31DC5261-1638-4D2F-B710-817884FD8D14}" presName="linear" presStyleCnt="0">
        <dgm:presLayoutVars>
          <dgm:animLvl val="lvl"/>
          <dgm:resizeHandles val="exact"/>
        </dgm:presLayoutVars>
      </dgm:prSet>
      <dgm:spPr/>
    </dgm:pt>
    <dgm:pt modelId="{D40FAD80-1C1B-4F36-BDB3-3BE009C4C6F6}" type="pres">
      <dgm:prSet presAssocID="{C4152A37-EA85-4A66-805B-407F2970760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A53F7B-2F8E-4A0C-A0F4-EAE8BFFBDEFD}" type="pres">
      <dgm:prSet presAssocID="{861B2BF2-7E89-4E89-B640-2C094207B462}" presName="spacer" presStyleCnt="0"/>
      <dgm:spPr/>
    </dgm:pt>
    <dgm:pt modelId="{55AC0D94-47A1-44CB-AEB9-D68500398036}" type="pres">
      <dgm:prSet presAssocID="{15DDABDB-8279-4874-B0A7-BB360E7C12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6F59180-1B46-40C4-A8EC-D74BA46113E0}" type="pres">
      <dgm:prSet presAssocID="{A56D1A4E-3A3E-4DAC-8B92-9629CDA08F44}" presName="spacer" presStyleCnt="0"/>
      <dgm:spPr/>
    </dgm:pt>
    <dgm:pt modelId="{207ABF31-6772-45A2-810E-F08905B9FBB6}" type="pres">
      <dgm:prSet presAssocID="{BDDD41C7-61B8-4F0A-A78E-0B7876D94BC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8DDCF2E-098D-47AC-937F-269F5D1DFCA2}" type="presOf" srcId="{BDDD41C7-61B8-4F0A-A78E-0B7876D94BC7}" destId="{207ABF31-6772-45A2-810E-F08905B9FBB6}" srcOrd="0" destOrd="0" presId="urn:microsoft.com/office/officeart/2005/8/layout/vList2"/>
    <dgm:cxn modelId="{1700973F-3D6E-48A9-B930-9D44CFD976DA}" srcId="{31DC5261-1638-4D2F-B710-817884FD8D14}" destId="{15DDABDB-8279-4874-B0A7-BB360E7C1258}" srcOrd="1" destOrd="0" parTransId="{1268DDBA-13F2-4A81-8D58-B3EF2E4AAA9A}" sibTransId="{A56D1A4E-3A3E-4DAC-8B92-9629CDA08F44}"/>
    <dgm:cxn modelId="{EC22916D-C439-4DD0-A5A0-040427F83BA9}" srcId="{31DC5261-1638-4D2F-B710-817884FD8D14}" destId="{BDDD41C7-61B8-4F0A-A78E-0B7876D94BC7}" srcOrd="2" destOrd="0" parTransId="{1073E642-95B9-4306-B4F2-87045F2649F3}" sibTransId="{2B673BB6-D947-4DD2-B628-66B6AE747AC0}"/>
    <dgm:cxn modelId="{D0C59F56-08E1-4FB5-9636-2EC720A90643}" type="presOf" srcId="{31DC5261-1638-4D2F-B710-817884FD8D14}" destId="{BEB3F01B-1372-43C9-95B0-C2BE6959F1B9}" srcOrd="0" destOrd="0" presId="urn:microsoft.com/office/officeart/2005/8/layout/vList2"/>
    <dgm:cxn modelId="{564AC2E7-AEF2-4D70-B599-831931F272EA}" type="presOf" srcId="{C4152A37-EA85-4A66-805B-407F2970760D}" destId="{D40FAD80-1C1B-4F36-BDB3-3BE009C4C6F6}" srcOrd="0" destOrd="0" presId="urn:microsoft.com/office/officeart/2005/8/layout/vList2"/>
    <dgm:cxn modelId="{3030D5ED-E37A-484B-A912-E9A680719E57}" type="presOf" srcId="{15DDABDB-8279-4874-B0A7-BB360E7C1258}" destId="{55AC0D94-47A1-44CB-AEB9-D68500398036}" srcOrd="0" destOrd="0" presId="urn:microsoft.com/office/officeart/2005/8/layout/vList2"/>
    <dgm:cxn modelId="{56F55AFB-AC4B-4EEE-9A5E-A1C8D2F240AA}" srcId="{31DC5261-1638-4D2F-B710-817884FD8D14}" destId="{C4152A37-EA85-4A66-805B-407F2970760D}" srcOrd="0" destOrd="0" parTransId="{7CA91C00-B4AA-4F2C-980E-6EC2C94DAFA0}" sibTransId="{861B2BF2-7E89-4E89-B640-2C094207B462}"/>
    <dgm:cxn modelId="{AC650620-6944-463C-81E9-7BC85E6B89E8}" type="presParOf" srcId="{BEB3F01B-1372-43C9-95B0-C2BE6959F1B9}" destId="{D40FAD80-1C1B-4F36-BDB3-3BE009C4C6F6}" srcOrd="0" destOrd="0" presId="urn:microsoft.com/office/officeart/2005/8/layout/vList2"/>
    <dgm:cxn modelId="{5538EBED-0628-46BA-8545-7F6F974E3073}" type="presParOf" srcId="{BEB3F01B-1372-43C9-95B0-C2BE6959F1B9}" destId="{CBA53F7B-2F8E-4A0C-A0F4-EAE8BFFBDEFD}" srcOrd="1" destOrd="0" presId="urn:microsoft.com/office/officeart/2005/8/layout/vList2"/>
    <dgm:cxn modelId="{93BFC8D6-F8F2-405E-BF1B-303C41C7A867}" type="presParOf" srcId="{BEB3F01B-1372-43C9-95B0-C2BE6959F1B9}" destId="{55AC0D94-47A1-44CB-AEB9-D68500398036}" srcOrd="2" destOrd="0" presId="urn:microsoft.com/office/officeart/2005/8/layout/vList2"/>
    <dgm:cxn modelId="{8023C2E2-321E-4A6C-B325-2827E39D0E05}" type="presParOf" srcId="{BEB3F01B-1372-43C9-95B0-C2BE6959F1B9}" destId="{E6F59180-1B46-40C4-A8EC-D74BA46113E0}" srcOrd="3" destOrd="0" presId="urn:microsoft.com/office/officeart/2005/8/layout/vList2"/>
    <dgm:cxn modelId="{4B95DA6C-D4AC-4158-B94E-D01B03F394BB}" type="presParOf" srcId="{BEB3F01B-1372-43C9-95B0-C2BE6959F1B9}" destId="{207ABF31-6772-45A2-810E-F08905B9FBB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FAD80-1C1B-4F36-BDB3-3BE009C4C6F6}">
      <dsp:nvSpPr>
        <dsp:cNvPr id="0" name=""/>
        <dsp:cNvSpPr/>
      </dsp:nvSpPr>
      <dsp:spPr>
        <a:xfrm>
          <a:off x="0" y="50578"/>
          <a:ext cx="6949440" cy="1829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400" kern="1200"/>
            <a:t>목표로 하는 모델을 학습시키려면 분단위 데이터가 필요</a:t>
          </a:r>
          <a:endParaRPr lang="en-US" sz="3400" kern="1200"/>
        </a:p>
      </dsp:txBody>
      <dsp:txXfrm>
        <a:off x="89327" y="139905"/>
        <a:ext cx="6770786" cy="1651226"/>
      </dsp:txXfrm>
    </dsp:sp>
    <dsp:sp modelId="{55AC0D94-47A1-44CB-AEB9-D68500398036}">
      <dsp:nvSpPr>
        <dsp:cNvPr id="0" name=""/>
        <dsp:cNvSpPr/>
      </dsp:nvSpPr>
      <dsp:spPr>
        <a:xfrm>
          <a:off x="0" y="1978379"/>
          <a:ext cx="6949440" cy="1829880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400" kern="1200"/>
            <a:t>하지만 과거 데이터는 하루평균 데이터뿐</a:t>
          </a:r>
          <a:endParaRPr lang="en-US" sz="3400" kern="1200"/>
        </a:p>
      </dsp:txBody>
      <dsp:txXfrm>
        <a:off x="89327" y="2067706"/>
        <a:ext cx="6770786" cy="1651226"/>
      </dsp:txXfrm>
    </dsp:sp>
    <dsp:sp modelId="{207ABF31-6772-45A2-810E-F08905B9FBB6}">
      <dsp:nvSpPr>
        <dsp:cNvPr id="0" name=""/>
        <dsp:cNvSpPr/>
      </dsp:nvSpPr>
      <dsp:spPr>
        <a:xfrm>
          <a:off x="0" y="3906179"/>
          <a:ext cx="6949440" cy="1829880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-&gt; </a:t>
          </a:r>
          <a:r>
            <a:rPr lang="ko-KR" sz="3400" kern="1200"/>
            <a:t>데이터 수집 시스템을 구축 하기로 결정</a:t>
          </a:r>
          <a:endParaRPr lang="en-US" sz="3400" kern="1200"/>
        </a:p>
      </dsp:txBody>
      <dsp:txXfrm>
        <a:off x="89327" y="3995506"/>
        <a:ext cx="6770786" cy="1651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07999-48F1-435E-A6F7-BF98DC7C6EF9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C7E6B-7BF1-4C07-8C2B-911762033A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503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C7E6B-7BF1-4C07-8C2B-911762033AA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77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9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6AB2F-92E1-F3CE-E65E-F1C78E7FD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AB18FD-8113-52A2-FACD-349A26DCE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7CC86D-BC4B-397E-A043-BA3B777F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716CD-A28E-4E79-85F3-7D045DF0DCFB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827B58-AEDF-7266-842B-28ACA43E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5FDFF6-FFA0-029E-B493-3B9837D6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39B2A-4AE7-4AC7-B704-1D09727295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7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5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5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6.e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책상 위의 가젯">
            <a:extLst>
              <a:ext uri="{FF2B5EF4-FFF2-40B4-BE49-F238E27FC236}">
                <a16:creationId xmlns:a16="http://schemas.microsoft.com/office/drawing/2014/main" id="{E3286178-7052-01C4-71F9-23198A58C1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500" b="2050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0786B66-244D-82C6-B703-CFB648B57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 dirty="0" err="1">
                <a:solidFill>
                  <a:srgbClr val="FFFFFF"/>
                </a:solidFill>
              </a:rPr>
              <a:t>로스트아크</a:t>
            </a:r>
            <a:r>
              <a:rPr lang="ko-KR" altLang="en-US" sz="5400" dirty="0">
                <a:solidFill>
                  <a:srgbClr val="FFFFFF"/>
                </a:solidFill>
              </a:rPr>
              <a:t> </a:t>
            </a:r>
            <a:r>
              <a:rPr lang="ko-KR" altLang="en-US" sz="5400" dirty="0" err="1">
                <a:solidFill>
                  <a:srgbClr val="FFFFFF"/>
                </a:solidFill>
              </a:rPr>
              <a:t>게임속</a:t>
            </a:r>
            <a:r>
              <a:rPr lang="ko-KR" altLang="en-US" sz="5400" dirty="0">
                <a:solidFill>
                  <a:srgbClr val="FFFFFF"/>
                </a:solidFill>
              </a:rPr>
              <a:t> 아이템들의 시세예측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FA742E-738F-9C60-7978-18D068C4E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altLang="ko-KR" sz="2200">
                <a:solidFill>
                  <a:srgbClr val="FFFFFF"/>
                </a:solidFill>
              </a:rPr>
              <a:t>202006040 </a:t>
            </a:r>
            <a:r>
              <a:rPr lang="ko-KR" altLang="en-US" sz="2200">
                <a:solidFill>
                  <a:srgbClr val="FFFFFF"/>
                </a:solidFill>
              </a:rPr>
              <a:t>장기성</a:t>
            </a:r>
          </a:p>
        </p:txBody>
      </p:sp>
    </p:spTree>
    <p:extLst>
      <p:ext uri="{BB962C8B-B14F-4D97-AF65-F5344CB8AC3E}">
        <p14:creationId xmlns:p14="http://schemas.microsoft.com/office/powerpoint/2010/main" val="4277284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1A2B6-4DC4-BB31-AC59-7D7DA601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9416BC-D7FC-00CC-2E8A-A5766C620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동기</a:t>
            </a:r>
            <a:endParaRPr lang="en-US" altLang="ko-KR" dirty="0"/>
          </a:p>
          <a:p>
            <a:r>
              <a:rPr lang="ko-KR" altLang="en-US" dirty="0"/>
              <a:t>데이터 수집 과정</a:t>
            </a:r>
            <a:endParaRPr lang="en-US" altLang="ko-KR" dirty="0"/>
          </a:p>
          <a:p>
            <a:pPr lvl="1"/>
            <a:r>
              <a:rPr lang="ko-KR" altLang="en-US" dirty="0"/>
              <a:t>데이터 수집 시스템 구축과정</a:t>
            </a:r>
            <a:endParaRPr lang="en-US" altLang="ko-KR" dirty="0"/>
          </a:p>
          <a:p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ko-KR" altLang="en-US" dirty="0"/>
              <a:t>학습</a:t>
            </a:r>
            <a:endParaRPr lang="en-US" altLang="ko-KR" dirty="0"/>
          </a:p>
          <a:p>
            <a:r>
              <a:rPr lang="ko-KR" altLang="en-US" dirty="0"/>
              <a:t>결과</a:t>
            </a:r>
            <a:r>
              <a:rPr lang="en-US" altLang="ko-KR" dirty="0"/>
              <a:t>(</a:t>
            </a:r>
            <a:r>
              <a:rPr lang="ko-KR" altLang="en-US" dirty="0"/>
              <a:t>시각화 포함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기대효과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5835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DC141-7241-2AED-AB43-FECC99061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662A7-D4CD-C0AD-15A3-70040CDA1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동기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6A573E-6AA6-DC56-6D95-744D9FDC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게임내 재화가 </a:t>
            </a:r>
            <a:r>
              <a:rPr lang="ko-KR" altLang="en-US" dirty="0" err="1"/>
              <a:t>많이쌓여서</a:t>
            </a:r>
            <a:r>
              <a:rPr lang="ko-KR" altLang="en-US" dirty="0"/>
              <a:t> 이를 소모해 캐릭터를 강화하려고</a:t>
            </a:r>
            <a:endParaRPr lang="en-US" altLang="ko-KR" dirty="0"/>
          </a:p>
          <a:p>
            <a:r>
              <a:rPr lang="ko-KR" altLang="en-US" dirty="0"/>
              <a:t>강화에 필요한 아이템을 구매하였는데</a:t>
            </a:r>
            <a:endParaRPr lang="en-US" altLang="ko-KR" dirty="0"/>
          </a:p>
          <a:p>
            <a:r>
              <a:rPr lang="ko-KR" altLang="en-US" dirty="0"/>
              <a:t>다음날 보니 해당 아이템의 가격이 훨씬 </a:t>
            </a:r>
            <a:r>
              <a:rPr lang="ko-KR" altLang="en-US" dirty="0" err="1"/>
              <a:t>저렴했던것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아이템의 미래의 가격흐름양상을 예측해주면 </a:t>
            </a:r>
            <a:r>
              <a:rPr lang="ko-KR" altLang="en-US" dirty="0" err="1"/>
              <a:t>좋을것</a:t>
            </a:r>
            <a:r>
              <a:rPr lang="ko-KR" altLang="en-US" dirty="0"/>
              <a:t> 같다는 생각이 듦</a:t>
            </a:r>
          </a:p>
        </p:txBody>
      </p:sp>
    </p:spTree>
    <p:extLst>
      <p:ext uri="{BB962C8B-B14F-4D97-AF65-F5344CB8AC3E}">
        <p14:creationId xmlns:p14="http://schemas.microsoft.com/office/powerpoint/2010/main" val="277668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CF981-3288-0BA7-FED5-5DD4E098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152E1B-9AB3-8EDF-BB41-838C8D68A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데이터를 요청하기 위한 </a:t>
            </a:r>
            <a:r>
              <a:rPr lang="en-US" altLang="ko-KR" dirty="0"/>
              <a:t>API</a:t>
            </a:r>
            <a:r>
              <a:rPr lang="ko-KR" altLang="en-US" dirty="0"/>
              <a:t>키 발급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CA25C6-A6C6-7261-4107-FF0B39A75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37" y="3269988"/>
            <a:ext cx="5710332" cy="26500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6ADE168-2724-BE96-7F91-3EACBAD81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436" y="3269988"/>
            <a:ext cx="6214023" cy="26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42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F438-5DE0-EE16-D673-455CD71D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2943F-C92A-B305-BF72-CFDF8966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BAE56E-EB3D-1990-8AE1-FE2D07E94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공식 문서를 참고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A2D149-B44A-9475-7B3E-C576B89EB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015" y="2965442"/>
            <a:ext cx="5875309" cy="287665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1DE105-967C-1749-3F7A-EE6328C4F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76" y="2965442"/>
            <a:ext cx="5875309" cy="285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96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53F8-C29C-220E-63D9-21A61EFE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4C158-4046-40A4-E1C8-5879F242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D3585D-047E-0F9D-BFD3-2A77F560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테스트용 프로그램 제작</a:t>
            </a: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9328627B-9914-E21A-6933-BAFB5D51D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570839"/>
              </p:ext>
            </p:extLst>
          </p:nvPr>
        </p:nvGraphicFramePr>
        <p:xfrm>
          <a:off x="1695448" y="3501177"/>
          <a:ext cx="1300933" cy="924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2" imgW="723929" imgH="514350" progId="Package">
                  <p:embed/>
                </p:oleObj>
              </mc:Choice>
              <mc:Fallback>
                <p:oleObj name="포장기 셸 개체" showAsIcon="1" r:id="rId2" imgW="723929" imgH="514350" progId="Package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950D2780-F7A4-11D8-C2F4-EE39B35B3C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95448" y="3501177"/>
                        <a:ext cx="1300933" cy="924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6C632655-17AA-E0C5-CCD4-5BAD5E00B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75" y="234103"/>
            <a:ext cx="3330110" cy="638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32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CCEAE-54C3-0D48-890D-3368AD0A6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2EA62-B4D0-7124-EA14-F4FEB242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D6712C-B01D-8D1B-72BA-2C841818D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API </a:t>
            </a:r>
            <a:r>
              <a:rPr lang="ko-KR" altLang="en-US" dirty="0"/>
              <a:t>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A02D50-8184-9FD0-473A-DF9AACC9D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2878059"/>
            <a:ext cx="5118566" cy="34659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C7B91C4-A5A3-0B40-581B-28025A93B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789" y="2074360"/>
            <a:ext cx="4907878" cy="426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3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A4D08-EA0D-ED91-F4FF-2DD9EE25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9DE8A-78B9-495C-2726-BFB374AA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7F8A8-FB28-4C2F-B1BA-A0B5EEA4F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테스트 결과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수집 가능한 데이터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아이템의 현재 최저가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특정 아이템의 최대 </a:t>
            </a:r>
            <a:r>
              <a:rPr lang="en-US" altLang="ko-KR" dirty="0"/>
              <a:t>2</a:t>
            </a:r>
            <a:r>
              <a:rPr lang="ko-KR" altLang="en-US" dirty="0"/>
              <a:t>주전까지의 </a:t>
            </a:r>
            <a:r>
              <a:rPr lang="ko-KR" altLang="en-US" dirty="0" err="1"/>
              <a:t>하루합산</a:t>
            </a:r>
            <a:r>
              <a:rPr lang="ko-KR" altLang="en-US" dirty="0"/>
              <a:t> 데이터</a:t>
            </a:r>
            <a:endParaRPr lang="en-US" altLang="ko-KR" dirty="0"/>
          </a:p>
          <a:p>
            <a:pPr lvl="2"/>
            <a:r>
              <a:rPr lang="ko-KR" altLang="en-US" dirty="0"/>
              <a:t>평균판매가</a:t>
            </a:r>
            <a:r>
              <a:rPr lang="en-US" altLang="ko-KR" dirty="0"/>
              <a:t>, </a:t>
            </a:r>
            <a:r>
              <a:rPr lang="ko-KR" altLang="en-US" dirty="0"/>
              <a:t>최저판매가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25442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B0ED2-2D90-A77A-07FF-2EACCCB5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9DB62A-F796-74F8-7344-428252BE8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ko-KR" altLang="en-US" sz="4000"/>
              <a:t>데이터 수집 과정</a:t>
            </a: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BB66E1BF-34DD-BEB3-5F35-75AE42DA49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33434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43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34DA9-A853-59A9-3677-1B7396A9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A588D-4425-8437-EB94-CE123C132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193891-CC09-9B4F-5300-5341EC75F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지인의 도움을 받아서 거래량이 높은 아이템을 선별함</a:t>
            </a:r>
            <a:endParaRPr lang="en-US" altLang="ko-KR" dirty="0"/>
          </a:p>
          <a:p>
            <a:r>
              <a:rPr lang="ko-KR" altLang="en-US" dirty="0"/>
              <a:t>강화재료</a:t>
            </a:r>
            <a:r>
              <a:rPr lang="en-US" altLang="ko-KR" dirty="0"/>
              <a:t>, </a:t>
            </a:r>
            <a:r>
              <a:rPr lang="ko-KR" altLang="en-US" dirty="0"/>
              <a:t>강화보조재료</a:t>
            </a:r>
            <a:r>
              <a:rPr lang="en-US" altLang="ko-KR" dirty="0"/>
              <a:t>, </a:t>
            </a:r>
            <a:r>
              <a:rPr lang="ko-KR" altLang="en-US" dirty="0"/>
              <a:t>보석</a:t>
            </a:r>
            <a:r>
              <a:rPr lang="en-US" altLang="ko-KR" dirty="0"/>
              <a:t>, </a:t>
            </a:r>
            <a:r>
              <a:rPr lang="ko-KR" altLang="en-US" dirty="0" err="1"/>
              <a:t>젬</a:t>
            </a:r>
            <a:r>
              <a:rPr lang="en-US" altLang="ko-KR" dirty="0"/>
              <a:t>(</a:t>
            </a:r>
            <a:r>
              <a:rPr lang="ko-KR" altLang="en-US" dirty="0"/>
              <a:t>보석이랑 다름</a:t>
            </a:r>
            <a:r>
              <a:rPr lang="en-US" altLang="ko-KR" dirty="0"/>
              <a:t>), </a:t>
            </a:r>
            <a:r>
              <a:rPr lang="ko-KR" altLang="en-US" dirty="0"/>
              <a:t>각인서</a:t>
            </a:r>
            <a:r>
              <a:rPr lang="en-US" altLang="ko-KR" dirty="0"/>
              <a:t>, </a:t>
            </a:r>
            <a:r>
              <a:rPr lang="ko-KR" altLang="en-US" dirty="0"/>
              <a:t>생활재료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6B8BA1-E695-3C4C-7455-6107D07BA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66" y="3631241"/>
            <a:ext cx="3896709" cy="24009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CBB1052-F16F-2BBF-E03C-BD50CD5B7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07" y="3633355"/>
            <a:ext cx="3976878" cy="239884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1E8139-2CBA-FFEC-12DF-F43BDD13F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59" y="3633355"/>
            <a:ext cx="3854576" cy="239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80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953D-041C-57E3-882C-69076A77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CCAEC0-F790-0F81-6ADE-28E756A9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449215-73A8-D849-0B0D-448252B13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유니티와 구글 스프레드시트를 사용하여 </a:t>
            </a:r>
            <a:r>
              <a:rPr lang="en-US" altLang="ko-KR" dirty="0"/>
              <a:t>24</a:t>
            </a:r>
            <a:r>
              <a:rPr lang="ko-KR" altLang="en-US" dirty="0"/>
              <a:t>시간 데이터를 수집하는 시스템 구축 계획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15BEB6-5ECC-D6F6-3D94-96D64D1CA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9994"/>
            <a:ext cx="5634787" cy="30286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86DF5C6-22AF-9B88-16E6-057EFA0C8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754" y="3179994"/>
            <a:ext cx="6470246" cy="302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9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37EA2-90CA-F896-D9A5-0A24370C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58FA2-AAF3-0FB5-E327-BC001606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FF1087-C33C-F603-542B-AF44C816C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시퀀스 구조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분마다 데이터 요청</a:t>
            </a:r>
            <a:endParaRPr lang="en-US" altLang="ko-KR" dirty="0"/>
          </a:p>
          <a:p>
            <a:r>
              <a:rPr lang="ko-KR" altLang="en-US" dirty="0"/>
              <a:t>데이터 받음</a:t>
            </a:r>
            <a:endParaRPr lang="en-US" altLang="ko-KR" dirty="0"/>
          </a:p>
          <a:p>
            <a:r>
              <a:rPr lang="ko-KR" altLang="en-US" dirty="0"/>
              <a:t>데이터 가공</a:t>
            </a:r>
            <a:endParaRPr lang="en-US" altLang="ko-KR" dirty="0"/>
          </a:p>
          <a:p>
            <a:r>
              <a:rPr lang="ko-KR" altLang="en-US" dirty="0"/>
              <a:t>구글 스프레드시트에 데이터 전송</a:t>
            </a:r>
            <a:endParaRPr lang="en-US" altLang="ko-KR" dirty="0"/>
          </a:p>
          <a:p>
            <a:r>
              <a:rPr lang="ko-KR" altLang="en-US" dirty="0"/>
              <a:t>데이터 저장</a:t>
            </a:r>
          </a:p>
        </p:txBody>
      </p:sp>
    </p:spTree>
    <p:extLst>
      <p:ext uri="{BB962C8B-B14F-4D97-AF65-F5344CB8AC3E}">
        <p14:creationId xmlns:p14="http://schemas.microsoft.com/office/powerpoint/2010/main" val="27919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DC86-D823-033B-7064-BB4277F2B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41596-DBE9-E29B-18D9-40E331E50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DC446C-CE1F-0411-2C92-8241339F0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SetAlarm</a:t>
            </a:r>
            <a:r>
              <a:rPr lang="en-US" altLang="ko-KR" dirty="0"/>
              <a:t>() </a:t>
            </a:r>
            <a:r>
              <a:rPr lang="ko-KR" altLang="en-US" dirty="0" err="1"/>
              <a:t>호출시</a:t>
            </a:r>
            <a:r>
              <a:rPr lang="ko-KR" altLang="en-US" dirty="0"/>
              <a:t> 현재시간이 </a:t>
            </a:r>
            <a:r>
              <a:rPr lang="en-US" altLang="ko-KR" dirty="0"/>
              <a:t>20</a:t>
            </a:r>
            <a:r>
              <a:rPr lang="ko-KR" altLang="en-US" dirty="0"/>
              <a:t>시 </a:t>
            </a:r>
            <a:r>
              <a:rPr lang="en-US" altLang="ko-KR" dirty="0"/>
              <a:t>24</a:t>
            </a:r>
            <a:r>
              <a:rPr lang="ko-KR" altLang="en-US" dirty="0"/>
              <a:t>분 </a:t>
            </a:r>
            <a:r>
              <a:rPr lang="en-US" altLang="ko-KR" dirty="0"/>
              <a:t>12</a:t>
            </a:r>
            <a:r>
              <a:rPr lang="ko-KR" altLang="en-US" dirty="0"/>
              <a:t>초라고 가정</a:t>
            </a:r>
            <a:endParaRPr lang="en-US" altLang="ko-KR" dirty="0"/>
          </a:p>
          <a:p>
            <a:r>
              <a:rPr lang="ko-KR" altLang="en-US" dirty="0"/>
              <a:t>초 단위는 무시하고 </a:t>
            </a:r>
            <a:r>
              <a:rPr lang="en-US" altLang="ko-KR" dirty="0"/>
              <a:t>20</a:t>
            </a:r>
            <a:r>
              <a:rPr lang="ko-KR" altLang="en-US" dirty="0"/>
              <a:t>시 </a:t>
            </a:r>
            <a:r>
              <a:rPr lang="en-US" altLang="ko-KR" dirty="0"/>
              <a:t>25</a:t>
            </a:r>
            <a:r>
              <a:rPr lang="ko-KR" altLang="en-US" dirty="0"/>
              <a:t>분을 다음 </a:t>
            </a:r>
            <a:r>
              <a:rPr lang="ko-KR" altLang="en-US" dirty="0" err="1"/>
              <a:t>알람시간으로</a:t>
            </a:r>
            <a:r>
              <a:rPr lang="ko-KR" altLang="en-US" dirty="0"/>
              <a:t>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0BB873-C4F6-6770-0FC2-7A41DC88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4" y="3195276"/>
            <a:ext cx="8887632" cy="341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6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882C-3F17-C4DD-08AB-970AF644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26721-5E1C-D3E8-1468-562F465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F2A52-4CF0-B9CB-EDF4-A33C7A0DD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초에 </a:t>
            </a:r>
            <a:r>
              <a:rPr lang="en-US" altLang="ko-KR" dirty="0"/>
              <a:t>50</a:t>
            </a:r>
            <a:r>
              <a:rPr lang="ko-KR" altLang="en-US" dirty="0"/>
              <a:t>번 실행되는 함수</a:t>
            </a:r>
            <a:endParaRPr lang="en-US" altLang="ko-KR" dirty="0"/>
          </a:p>
          <a:p>
            <a:r>
              <a:rPr lang="ko-KR" altLang="en-US" dirty="0"/>
              <a:t>현재시간이 </a:t>
            </a:r>
            <a:r>
              <a:rPr lang="ko-KR" altLang="en-US" dirty="0" err="1"/>
              <a:t>알람시간을</a:t>
            </a:r>
            <a:r>
              <a:rPr lang="ko-KR" altLang="en-US" dirty="0"/>
              <a:t> 넘겼으면 다음 알람을 설정하고 </a:t>
            </a:r>
            <a:r>
              <a:rPr lang="en-US" altLang="ko-KR" dirty="0"/>
              <a:t>API </a:t>
            </a:r>
            <a:r>
              <a:rPr lang="ko-KR" altLang="en-US" dirty="0"/>
              <a:t>요청을 날림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D9F4C2-8778-97D9-B068-F56D04E7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982661"/>
            <a:ext cx="5339166" cy="380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4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294B-D37E-C93D-57B8-3448B4748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67FCB-636F-0EEE-4311-79038FDA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6C4C7-B62C-96EB-D5E3-A11CA93B0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Post</a:t>
            </a:r>
            <a:r>
              <a:rPr lang="ko-KR" altLang="en-US" dirty="0"/>
              <a:t>요청을 보내고 데이터를 리스트에 추가</a:t>
            </a:r>
            <a:endParaRPr lang="en-US" altLang="ko-KR" dirty="0"/>
          </a:p>
          <a:p>
            <a:r>
              <a:rPr lang="ko-KR" altLang="en-US" dirty="0"/>
              <a:t>데이터가 전부 들어왔으면 구글 스프레드시트에 데이터를 전송하는데 나중에 기술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57B4B9-6C01-1C4E-239B-B1D14F96B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2937010"/>
            <a:ext cx="8916644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24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6C0F-E4BD-ADFD-D9B7-072899F4C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5105A-D6A4-6581-FE35-30182CC17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7DCBA2-71F1-060E-B163-0EA88819C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Post</a:t>
            </a:r>
            <a:r>
              <a:rPr lang="ko-KR" altLang="en-US" dirty="0"/>
              <a:t>로 요청할 </a:t>
            </a:r>
            <a:r>
              <a:rPr lang="en-US" altLang="ko-KR" dirty="0"/>
              <a:t>Form</a:t>
            </a:r>
            <a:r>
              <a:rPr lang="ko-KR" altLang="en-US" dirty="0"/>
              <a:t>을 작성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01EC0A-07A3-3C64-E2C0-C3E7BD549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785" y="2204773"/>
            <a:ext cx="3979704" cy="44869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71598D-84F4-EF0A-33E5-14323E314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111" y="860833"/>
            <a:ext cx="4251115" cy="583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54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13D35-C758-DEE0-EBD1-E8C7F84E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AE9C9-5733-AA4A-8F7D-80B2621C3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89475-A1FD-3486-FD03-B78231E3D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로스트아크</a:t>
            </a:r>
            <a:r>
              <a:rPr lang="ko-KR" altLang="en-US" dirty="0"/>
              <a:t> </a:t>
            </a:r>
            <a:r>
              <a:rPr lang="en-US" altLang="ko-KR" dirty="0"/>
              <a:t>API</a:t>
            </a:r>
            <a:r>
              <a:rPr lang="ko-KR" altLang="en-US" dirty="0"/>
              <a:t> 특징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URL</a:t>
            </a:r>
            <a:r>
              <a:rPr lang="ko-KR" altLang="en-US" dirty="0"/>
              <a:t>에 따라 얻을 수 있는 데이터의 그룹이 나뉘어져 있음</a:t>
            </a:r>
            <a:endParaRPr lang="en-US" altLang="ko-KR" dirty="0"/>
          </a:p>
          <a:p>
            <a:pPr lvl="1"/>
            <a:r>
              <a:rPr lang="ko-KR" altLang="en-US" dirty="0"/>
              <a:t>공지</a:t>
            </a:r>
            <a:r>
              <a:rPr lang="en-US" altLang="ko-KR" dirty="0"/>
              <a:t>, </a:t>
            </a:r>
            <a:r>
              <a:rPr lang="ko-KR" altLang="en-US" dirty="0"/>
              <a:t>캐릭터 간단정보</a:t>
            </a:r>
            <a:r>
              <a:rPr lang="en-US" altLang="ko-KR" dirty="0"/>
              <a:t>, </a:t>
            </a:r>
            <a:r>
              <a:rPr lang="ko-KR" altLang="en-US" dirty="0"/>
              <a:t>캐릭터 상세정보</a:t>
            </a:r>
            <a:r>
              <a:rPr lang="en-US" altLang="ko-KR" dirty="0"/>
              <a:t>, </a:t>
            </a:r>
            <a:r>
              <a:rPr lang="ko-KR" altLang="en-US" dirty="0"/>
              <a:t>거래소</a:t>
            </a:r>
            <a:r>
              <a:rPr lang="en-US" altLang="ko-KR" dirty="0"/>
              <a:t>, </a:t>
            </a:r>
            <a:r>
              <a:rPr lang="ko-KR" altLang="en-US" dirty="0"/>
              <a:t>경매장</a:t>
            </a:r>
            <a:r>
              <a:rPr lang="en-US" altLang="ko-KR" dirty="0"/>
              <a:t>, </a:t>
            </a:r>
            <a:r>
              <a:rPr lang="ko-KR" altLang="en-US" dirty="0"/>
              <a:t>이벤트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그 중 두 개의 그룹을 사용하였음</a:t>
            </a:r>
            <a:endParaRPr lang="en-US" altLang="ko-KR" dirty="0"/>
          </a:p>
          <a:p>
            <a:pPr lvl="1"/>
            <a:r>
              <a:rPr lang="ko-KR" altLang="en-US" dirty="0"/>
              <a:t>거래소 </a:t>
            </a:r>
            <a:r>
              <a:rPr lang="en-US" altLang="ko-KR" dirty="0"/>
              <a:t>: </a:t>
            </a:r>
            <a:r>
              <a:rPr lang="ko-KR" altLang="en-US" dirty="0"/>
              <a:t>강화재료</a:t>
            </a:r>
            <a:r>
              <a:rPr lang="en-US" altLang="ko-KR" dirty="0"/>
              <a:t>, </a:t>
            </a:r>
            <a:r>
              <a:rPr lang="ko-KR" altLang="en-US" dirty="0"/>
              <a:t>강화보조재료</a:t>
            </a:r>
            <a:r>
              <a:rPr lang="en-US" altLang="ko-KR" dirty="0"/>
              <a:t>, </a:t>
            </a:r>
            <a:r>
              <a:rPr lang="ko-KR" altLang="en-US" dirty="0" err="1"/>
              <a:t>젬</a:t>
            </a:r>
            <a:r>
              <a:rPr lang="en-US" altLang="ko-KR" dirty="0"/>
              <a:t>, </a:t>
            </a:r>
            <a:r>
              <a:rPr lang="ko-KR" altLang="en-US" dirty="0"/>
              <a:t>각인서</a:t>
            </a:r>
            <a:r>
              <a:rPr lang="en-US" altLang="ko-KR" dirty="0"/>
              <a:t>, </a:t>
            </a:r>
            <a:r>
              <a:rPr lang="ko-KR" altLang="en-US" dirty="0"/>
              <a:t>생활재료</a:t>
            </a:r>
          </a:p>
          <a:p>
            <a:pPr lvl="1"/>
            <a:r>
              <a:rPr lang="ko-KR" altLang="en-US" dirty="0"/>
              <a:t>경매장 </a:t>
            </a:r>
            <a:r>
              <a:rPr lang="en-US" altLang="ko-KR" dirty="0"/>
              <a:t>: </a:t>
            </a:r>
            <a:r>
              <a:rPr lang="ko-KR" altLang="en-US" dirty="0"/>
              <a:t>보석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9880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F1BA-9C73-3B42-83D8-69F035D6E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926A7-FB78-1708-485A-2F844AC1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E15739-EE7E-838F-BBDC-FD9676542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거래소 </a:t>
            </a:r>
            <a:r>
              <a:rPr lang="en-US" altLang="ko-KR" dirty="0"/>
              <a:t>API </a:t>
            </a:r>
            <a:r>
              <a:rPr lang="ko-KR" altLang="en-US" dirty="0"/>
              <a:t>특징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요청을 </a:t>
            </a:r>
            <a:r>
              <a:rPr lang="ko-KR" altLang="en-US" dirty="0" err="1"/>
              <a:t>보낼때의</a:t>
            </a:r>
            <a:r>
              <a:rPr lang="ko-KR" altLang="en-US" dirty="0"/>
              <a:t> 항목</a:t>
            </a:r>
            <a:endParaRPr lang="en-US" altLang="ko-KR" dirty="0"/>
          </a:p>
          <a:p>
            <a:pPr lvl="1"/>
            <a:r>
              <a:rPr lang="ko-KR" altLang="en-US" dirty="0"/>
              <a:t>정렬기준</a:t>
            </a:r>
            <a:r>
              <a:rPr lang="en-US" altLang="ko-KR" dirty="0"/>
              <a:t>, </a:t>
            </a:r>
            <a:r>
              <a:rPr lang="ko-KR" altLang="en-US" dirty="0"/>
              <a:t>카테고리 코드</a:t>
            </a:r>
            <a:r>
              <a:rPr lang="en-US" altLang="ko-KR" dirty="0"/>
              <a:t>, </a:t>
            </a:r>
            <a:r>
              <a:rPr lang="ko-KR" altLang="en-US" dirty="0"/>
              <a:t>아이템등급</a:t>
            </a:r>
            <a:r>
              <a:rPr lang="en-US" altLang="ko-KR" dirty="0"/>
              <a:t>, </a:t>
            </a:r>
            <a:r>
              <a:rPr lang="ko-KR" altLang="en-US" dirty="0"/>
              <a:t>아이템 이름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/>
              <a:t>아이템</a:t>
            </a:r>
            <a:r>
              <a:rPr lang="en-US" altLang="ko-KR" dirty="0"/>
              <a:t> </a:t>
            </a:r>
            <a:r>
              <a:rPr lang="ko-KR" altLang="en-US" dirty="0"/>
              <a:t>희귀도</a:t>
            </a:r>
            <a:r>
              <a:rPr lang="en-US" altLang="ko-KR" dirty="0"/>
              <a:t>, </a:t>
            </a:r>
            <a:r>
              <a:rPr lang="ko-KR" altLang="en-US" dirty="0"/>
              <a:t>페이지 번호</a:t>
            </a:r>
            <a:r>
              <a:rPr lang="en-US" altLang="ko-KR" dirty="0"/>
              <a:t>, </a:t>
            </a:r>
            <a:r>
              <a:rPr lang="ko-KR" altLang="en-US" dirty="0"/>
              <a:t>정렬순서</a:t>
            </a:r>
            <a:endParaRPr lang="en-US" altLang="ko-KR" dirty="0"/>
          </a:p>
          <a:p>
            <a:r>
              <a:rPr lang="ko-KR" altLang="en-US" dirty="0"/>
              <a:t>받은 데이터의 항목</a:t>
            </a:r>
            <a:endParaRPr lang="en-US" altLang="ko-KR" dirty="0"/>
          </a:p>
          <a:p>
            <a:pPr lvl="1"/>
            <a:r>
              <a:rPr lang="ko-KR" altLang="en-US" dirty="0"/>
              <a:t>옆의 </a:t>
            </a:r>
            <a:r>
              <a:rPr lang="en-US" altLang="ko-KR" dirty="0" err="1"/>
              <a:t>json</a:t>
            </a:r>
            <a:r>
              <a:rPr lang="en-US" altLang="ko-KR" dirty="0"/>
              <a:t> </a:t>
            </a:r>
            <a:r>
              <a:rPr lang="ko-KR" altLang="en-US" dirty="0"/>
              <a:t>데이터 형태로 옴</a:t>
            </a:r>
            <a:endParaRPr lang="en-US" altLang="ko-KR" dirty="0"/>
          </a:p>
          <a:p>
            <a:pPr lvl="1"/>
            <a:r>
              <a:rPr lang="en-US" altLang="ko-KR" dirty="0"/>
              <a:t>“Items” </a:t>
            </a:r>
            <a:r>
              <a:rPr lang="ko-KR" altLang="en-US" dirty="0"/>
              <a:t>리스트 내에 최대 </a:t>
            </a:r>
            <a:r>
              <a:rPr lang="en-US" altLang="ko-KR" dirty="0"/>
              <a:t>10</a:t>
            </a:r>
            <a:r>
              <a:rPr lang="ko-KR" altLang="en-US" dirty="0"/>
              <a:t>개의 아이템 정보가 옴</a:t>
            </a:r>
            <a:endParaRPr lang="en-US" altLang="ko-KR" dirty="0"/>
          </a:p>
          <a:p>
            <a:pPr lvl="1"/>
            <a:r>
              <a:rPr lang="ko-KR" altLang="en-US" dirty="0"/>
              <a:t>사용되는 항목</a:t>
            </a:r>
            <a:endParaRPr lang="en-US" altLang="ko-KR" dirty="0"/>
          </a:p>
          <a:p>
            <a:pPr lvl="2"/>
            <a:r>
              <a:rPr lang="en-US" altLang="ko-KR" dirty="0"/>
              <a:t>Name, Grade, </a:t>
            </a:r>
            <a:r>
              <a:rPr lang="en-US" altLang="ko-KR" dirty="0" err="1"/>
              <a:t>CurrentMinPrice</a:t>
            </a:r>
            <a:r>
              <a:rPr lang="en-US" altLang="ko-KR" dirty="0"/>
              <a:t>(</a:t>
            </a:r>
            <a:r>
              <a:rPr lang="ko-KR" altLang="en-US" dirty="0" err="1"/>
              <a:t>현재최저가</a:t>
            </a:r>
            <a:r>
              <a:rPr lang="en-US" altLang="ko-KR" dirty="0"/>
              <a:t>)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95D139A-D624-B25D-BC41-A6B516A292E4}"/>
              </a:ext>
            </a:extLst>
          </p:cNvPr>
          <p:cNvSpPr txBox="1">
            <a:spLocks/>
          </p:cNvSpPr>
          <p:nvPr/>
        </p:nvSpPr>
        <p:spPr>
          <a:xfrm>
            <a:off x="6250248" y="1281628"/>
            <a:ext cx="6872154" cy="574738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{</a:t>
            </a:r>
          </a:p>
          <a:p>
            <a:r>
              <a:rPr lang="en-US" altLang="ko-KR" dirty="0"/>
              <a:t>  "</a:t>
            </a:r>
            <a:r>
              <a:rPr lang="en-US" altLang="ko-KR" dirty="0" err="1"/>
              <a:t>PageNo</a:t>
            </a:r>
            <a:r>
              <a:rPr lang="en-US" altLang="ko-KR" dirty="0"/>
              <a:t>": 1,</a:t>
            </a:r>
          </a:p>
          <a:p>
            <a:r>
              <a:rPr lang="en-US" altLang="ko-KR" dirty="0"/>
              <a:t>  "</a:t>
            </a:r>
            <a:r>
              <a:rPr lang="en-US" altLang="ko-KR" dirty="0" err="1"/>
              <a:t>PageSize</a:t>
            </a:r>
            <a:r>
              <a:rPr lang="en-US" altLang="ko-KR" dirty="0"/>
              <a:t>": 10,</a:t>
            </a:r>
          </a:p>
          <a:p>
            <a:r>
              <a:rPr lang="en-US" altLang="ko-KR" dirty="0"/>
              <a:t>  "</a:t>
            </a:r>
            <a:r>
              <a:rPr lang="en-US" altLang="ko-KR" dirty="0" err="1"/>
              <a:t>TotalCount</a:t>
            </a:r>
            <a:r>
              <a:rPr lang="en-US" altLang="ko-KR" dirty="0"/>
              <a:t>": 19,</a:t>
            </a:r>
          </a:p>
          <a:p>
            <a:r>
              <a:rPr lang="en-US" altLang="ko-KR" dirty="0"/>
              <a:t>  "Items": [</a:t>
            </a:r>
          </a:p>
          <a:p>
            <a:r>
              <a:rPr lang="en-US" altLang="ko-KR" dirty="0"/>
              <a:t>    {</a:t>
            </a:r>
          </a:p>
          <a:p>
            <a:r>
              <a:rPr lang="en-US" altLang="ko-KR" dirty="0"/>
              <a:t>      "Id": 66102106,</a:t>
            </a:r>
          </a:p>
          <a:p>
            <a:r>
              <a:rPr lang="en-US" altLang="ko-KR" dirty="0"/>
              <a:t>      "Name": "</a:t>
            </a:r>
            <a:r>
              <a:rPr lang="ko-KR" altLang="en-US" dirty="0"/>
              <a:t>운명의 </a:t>
            </a:r>
            <a:r>
              <a:rPr lang="ko-KR" altLang="en-US" dirty="0" err="1"/>
              <a:t>수호석</a:t>
            </a:r>
            <a:r>
              <a:rPr lang="en-US" altLang="ko-KR" dirty="0"/>
              <a:t>",</a:t>
            </a:r>
          </a:p>
          <a:p>
            <a:r>
              <a:rPr lang="en-US" altLang="ko-KR" dirty="0"/>
              <a:t>      "Grade": "</a:t>
            </a:r>
            <a:r>
              <a:rPr lang="ko-KR" altLang="en-US" dirty="0"/>
              <a:t>일반</a:t>
            </a:r>
            <a:r>
              <a:rPr lang="en-US" altLang="ko-KR" dirty="0"/>
              <a:t>",</a:t>
            </a:r>
          </a:p>
          <a:p>
            <a:r>
              <a:rPr lang="en-US" altLang="ko-KR" dirty="0"/>
              <a:t>      "Icon": "https://cdn-lostark.game.onstove.com/</a:t>
            </a:r>
            <a:r>
              <a:rPr lang="en-US" altLang="ko-KR" dirty="0" err="1"/>
              <a:t>efui_iconatlas</a:t>
            </a:r>
            <a:r>
              <a:rPr lang="en-US" altLang="ko-KR" dirty="0"/>
              <a:t>/use/use_12_89.png",</a:t>
            </a:r>
          </a:p>
          <a:p>
            <a:r>
              <a:rPr lang="en-US" altLang="ko-KR" dirty="0"/>
              <a:t>      "</a:t>
            </a:r>
            <a:r>
              <a:rPr lang="en-US" altLang="ko-KR" dirty="0" err="1"/>
              <a:t>BundleCount</a:t>
            </a:r>
            <a:r>
              <a:rPr lang="en-US" altLang="ko-KR" dirty="0"/>
              <a:t>": 100,</a:t>
            </a:r>
          </a:p>
          <a:p>
            <a:r>
              <a:rPr lang="en-US" altLang="ko-KR" dirty="0"/>
              <a:t>      "</a:t>
            </a:r>
            <a:r>
              <a:rPr lang="en-US" altLang="ko-KR" dirty="0" err="1"/>
              <a:t>TradeRemainCount</a:t>
            </a:r>
            <a:r>
              <a:rPr lang="en-US" altLang="ko-KR" dirty="0"/>
              <a:t>": null,</a:t>
            </a:r>
          </a:p>
          <a:p>
            <a:r>
              <a:rPr lang="en-US" altLang="ko-KR" dirty="0"/>
              <a:t>      "</a:t>
            </a:r>
            <a:r>
              <a:rPr lang="en-US" altLang="ko-KR" dirty="0" err="1"/>
              <a:t>YDayAvgPrice</a:t>
            </a:r>
            <a:r>
              <a:rPr lang="en-US" altLang="ko-KR" dirty="0"/>
              <a:t>": 2.2,</a:t>
            </a:r>
          </a:p>
          <a:p>
            <a:r>
              <a:rPr lang="en-US" altLang="ko-KR" dirty="0"/>
              <a:t>      "</a:t>
            </a:r>
            <a:r>
              <a:rPr lang="en-US" altLang="ko-KR" dirty="0" err="1"/>
              <a:t>RecentPrice</a:t>
            </a:r>
            <a:r>
              <a:rPr lang="en-US" altLang="ko-KR" dirty="0"/>
              <a:t>": 3,</a:t>
            </a:r>
          </a:p>
          <a:p>
            <a:r>
              <a:rPr lang="en-US" altLang="ko-KR" dirty="0"/>
              <a:t>      "</a:t>
            </a:r>
            <a:r>
              <a:rPr lang="en-US" altLang="ko-KR" dirty="0" err="1"/>
              <a:t>CurrentMinPrice</a:t>
            </a:r>
            <a:r>
              <a:rPr lang="en-US" altLang="ko-KR" dirty="0"/>
              <a:t>": 2</a:t>
            </a:r>
          </a:p>
          <a:p>
            <a:r>
              <a:rPr lang="en-US" altLang="ko-KR" dirty="0"/>
              <a:t>    }, (</a:t>
            </a:r>
            <a:r>
              <a:rPr lang="ko-KR" altLang="en-US" dirty="0"/>
              <a:t>이 외 </a:t>
            </a:r>
            <a:r>
              <a:rPr lang="en-US" altLang="ko-KR" dirty="0"/>
              <a:t>10</a:t>
            </a:r>
            <a:r>
              <a:rPr lang="ko-KR" altLang="en-US" dirty="0"/>
              <a:t>개항목이 추가로 더 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]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0727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94D4-A658-726F-DD5A-8F4B04F5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905A6-BB83-EFED-A2C3-EC64BD9C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B0728-2344-85F9-9D16-FAFBD7F6B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경매장 </a:t>
            </a:r>
            <a:r>
              <a:rPr lang="en-US" altLang="ko-KR" dirty="0"/>
              <a:t>API </a:t>
            </a:r>
            <a:r>
              <a:rPr lang="ko-KR" altLang="en-US" dirty="0"/>
              <a:t>특징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요청을 </a:t>
            </a:r>
            <a:r>
              <a:rPr lang="ko-KR" altLang="en-US" dirty="0" err="1"/>
              <a:t>보낼때의</a:t>
            </a:r>
            <a:r>
              <a:rPr lang="ko-KR" altLang="en-US" dirty="0"/>
              <a:t> 항목은 거래소와 동일</a:t>
            </a:r>
            <a:endParaRPr lang="en-US" altLang="ko-KR" dirty="0"/>
          </a:p>
          <a:p>
            <a:r>
              <a:rPr lang="ko-KR" altLang="en-US" dirty="0"/>
              <a:t>받은 데이터의 </a:t>
            </a:r>
            <a:r>
              <a:rPr lang="ko-KR" altLang="en-US" dirty="0" err="1"/>
              <a:t>항목중</a:t>
            </a:r>
            <a:r>
              <a:rPr lang="ko-KR" altLang="en-US" dirty="0"/>
              <a:t> 거래소와 차이점</a:t>
            </a:r>
            <a:endParaRPr lang="en-US" altLang="ko-KR" dirty="0"/>
          </a:p>
          <a:p>
            <a:pPr lvl="1"/>
            <a:r>
              <a:rPr lang="ko-KR" altLang="en-US" dirty="0" err="1"/>
              <a:t>시작입찰가</a:t>
            </a:r>
            <a:r>
              <a:rPr lang="en-US" altLang="ko-KR" dirty="0"/>
              <a:t>, </a:t>
            </a:r>
            <a:r>
              <a:rPr lang="ko-KR" altLang="en-US" dirty="0"/>
              <a:t>즉시구매가</a:t>
            </a:r>
            <a:r>
              <a:rPr lang="en-US" altLang="ko-KR" dirty="0"/>
              <a:t>, </a:t>
            </a:r>
            <a:r>
              <a:rPr lang="ko-KR" altLang="en-US" dirty="0" err="1"/>
              <a:t>현재입찰가</a:t>
            </a:r>
            <a:r>
              <a:rPr lang="en-US" altLang="ko-KR" dirty="0"/>
              <a:t>, </a:t>
            </a:r>
            <a:r>
              <a:rPr lang="ko-KR" altLang="en-US" dirty="0"/>
              <a:t>거래종료일 등</a:t>
            </a:r>
            <a:endParaRPr lang="en-US" altLang="ko-KR" dirty="0"/>
          </a:p>
          <a:p>
            <a:pPr lvl="1"/>
            <a:r>
              <a:rPr lang="ko-KR" altLang="en-US" dirty="0"/>
              <a:t>사용되는 항목</a:t>
            </a:r>
            <a:endParaRPr lang="en-US" altLang="ko-KR" dirty="0"/>
          </a:p>
          <a:p>
            <a:pPr lvl="2"/>
            <a:r>
              <a:rPr lang="en-US" altLang="ko-KR" dirty="0"/>
              <a:t>Name, Grade, </a:t>
            </a:r>
            <a:r>
              <a:rPr lang="en-US" altLang="ko-KR" dirty="0" err="1"/>
              <a:t>BuyPrice</a:t>
            </a:r>
            <a:r>
              <a:rPr lang="en-US" altLang="ko-KR" dirty="0"/>
              <a:t>(</a:t>
            </a:r>
            <a:r>
              <a:rPr lang="ko-KR" altLang="en-US" dirty="0"/>
              <a:t>즉시구매가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52CFF8A-C951-8EB8-EC71-61E37422191B}"/>
              </a:ext>
            </a:extLst>
          </p:cNvPr>
          <p:cNvSpPr txBox="1">
            <a:spLocks/>
          </p:cNvSpPr>
          <p:nvPr/>
        </p:nvSpPr>
        <p:spPr>
          <a:xfrm>
            <a:off x="6362700" y="548640"/>
            <a:ext cx="5962650" cy="6269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{</a:t>
            </a:r>
          </a:p>
          <a:p>
            <a:r>
              <a:rPr lang="en-US" altLang="ko-KR" dirty="0"/>
              <a:t>  "</a:t>
            </a:r>
            <a:r>
              <a:rPr lang="en-US" altLang="ko-KR" dirty="0" err="1"/>
              <a:t>PageNo</a:t>
            </a:r>
            <a:r>
              <a:rPr lang="en-US" altLang="ko-KR" dirty="0"/>
              <a:t>": 1, "</a:t>
            </a:r>
            <a:r>
              <a:rPr lang="en-US" altLang="ko-KR" dirty="0" err="1"/>
              <a:t>PageSize</a:t>
            </a:r>
            <a:r>
              <a:rPr lang="en-US" altLang="ko-KR" dirty="0"/>
              <a:t>": 10, "</a:t>
            </a:r>
            <a:r>
              <a:rPr lang="en-US" altLang="ko-KR" dirty="0" err="1"/>
              <a:t>TotalCount</a:t>
            </a:r>
            <a:r>
              <a:rPr lang="en-US" altLang="ko-KR" dirty="0"/>
              <a:t>": 263,</a:t>
            </a:r>
          </a:p>
          <a:p>
            <a:r>
              <a:rPr lang="en-US" altLang="ko-KR" dirty="0"/>
              <a:t>  "Items": [</a:t>
            </a:r>
          </a:p>
          <a:p>
            <a:r>
              <a:rPr lang="en-US" altLang="ko-KR" dirty="0"/>
              <a:t>    {</a:t>
            </a:r>
          </a:p>
          <a:p>
            <a:r>
              <a:rPr lang="en-US" altLang="ko-KR" dirty="0"/>
              <a:t>      "Name": "8</a:t>
            </a:r>
            <a:r>
              <a:rPr lang="ko-KR" altLang="en-US" dirty="0"/>
              <a:t>레벨 작열의 보석</a:t>
            </a:r>
            <a:r>
              <a:rPr lang="en-US" altLang="ko-KR" dirty="0"/>
              <a:t>",  "Grade": "</a:t>
            </a:r>
            <a:r>
              <a:rPr lang="ko-KR" altLang="en-US" dirty="0"/>
              <a:t>유물</a:t>
            </a:r>
            <a:r>
              <a:rPr lang="en-US" altLang="ko-KR" dirty="0"/>
              <a:t>", "Tier": 4, "Level": 1640,</a:t>
            </a:r>
          </a:p>
          <a:p>
            <a:r>
              <a:rPr lang="en-US" altLang="ko-KR" dirty="0"/>
              <a:t>      "Icon": "https://cdn-lostark.game.onstove.com/</a:t>
            </a:r>
            <a:r>
              <a:rPr lang="en-US" altLang="ko-KR" dirty="0" err="1"/>
              <a:t>efui_iconatlas</a:t>
            </a:r>
            <a:r>
              <a:rPr lang="en-US" altLang="ko-KR" dirty="0"/>
              <a:t>/use/use_12_113.png",</a:t>
            </a:r>
          </a:p>
          <a:p>
            <a:r>
              <a:rPr lang="en-US" altLang="ko-KR" dirty="0"/>
              <a:t>      "</a:t>
            </a:r>
            <a:r>
              <a:rPr lang="en-US" altLang="ko-KR" dirty="0" err="1"/>
              <a:t>GradeQuality</a:t>
            </a:r>
            <a:r>
              <a:rPr lang="en-US" altLang="ko-KR" dirty="0"/>
              <a:t>": null,</a:t>
            </a:r>
          </a:p>
          <a:p>
            <a:r>
              <a:rPr lang="en-US" altLang="ko-KR" dirty="0"/>
              <a:t>      "</a:t>
            </a:r>
            <a:r>
              <a:rPr lang="en-US" altLang="ko-KR" dirty="0" err="1"/>
              <a:t>AuctionInfo</a:t>
            </a:r>
            <a:r>
              <a:rPr lang="en-US" altLang="ko-KR" dirty="0"/>
              <a:t>": {</a:t>
            </a:r>
          </a:p>
          <a:p>
            <a:r>
              <a:rPr lang="en-US" altLang="ko-KR" dirty="0"/>
              <a:t>        "</a:t>
            </a:r>
            <a:r>
              <a:rPr lang="en-US" altLang="ko-KR" dirty="0" err="1"/>
              <a:t>StartPrice</a:t>
            </a:r>
            <a:r>
              <a:rPr lang="en-US" altLang="ko-KR" dirty="0"/>
              <a:t>": 294000, "</a:t>
            </a:r>
            <a:r>
              <a:rPr lang="en-US" altLang="ko-KR" dirty="0" err="1"/>
              <a:t>BuyPrice</a:t>
            </a:r>
            <a:r>
              <a:rPr lang="en-US" altLang="ko-KR" dirty="0"/>
              <a:t>": 294000, "</a:t>
            </a:r>
            <a:r>
              <a:rPr lang="en-US" altLang="ko-KR" dirty="0" err="1"/>
              <a:t>BidPrice</a:t>
            </a:r>
            <a:r>
              <a:rPr lang="en-US" altLang="ko-KR" dirty="0"/>
              <a:t>": 0,</a:t>
            </a:r>
          </a:p>
          <a:p>
            <a:r>
              <a:rPr lang="en-US" altLang="ko-KR" dirty="0"/>
              <a:t>        "</a:t>
            </a:r>
            <a:r>
              <a:rPr lang="en-US" altLang="ko-KR" dirty="0" err="1"/>
              <a:t>EndDate</a:t>
            </a:r>
            <a:r>
              <a:rPr lang="en-US" altLang="ko-KR" dirty="0"/>
              <a:t>": "2025-12-07T20:47:21.89", "</a:t>
            </a:r>
            <a:r>
              <a:rPr lang="en-US" altLang="ko-KR" dirty="0" err="1"/>
              <a:t>BidCount</a:t>
            </a:r>
            <a:r>
              <a:rPr lang="en-US" altLang="ko-KR" dirty="0"/>
              <a:t>": 0,</a:t>
            </a:r>
          </a:p>
          <a:p>
            <a:r>
              <a:rPr lang="en-US" altLang="ko-KR" dirty="0"/>
              <a:t>        "</a:t>
            </a:r>
            <a:r>
              <a:rPr lang="en-US" altLang="ko-KR" dirty="0" err="1"/>
              <a:t>BidStartPrice</a:t>
            </a:r>
            <a:r>
              <a:rPr lang="en-US" altLang="ko-KR" dirty="0"/>
              <a:t>": 294000, "</a:t>
            </a:r>
            <a:r>
              <a:rPr lang="en-US" altLang="ko-KR" dirty="0" err="1"/>
              <a:t>IsCompetitive</a:t>
            </a:r>
            <a:r>
              <a:rPr lang="en-US" altLang="ko-KR" dirty="0"/>
              <a:t>": false,</a:t>
            </a:r>
          </a:p>
          <a:p>
            <a:r>
              <a:rPr lang="en-US" altLang="ko-KR" dirty="0"/>
              <a:t>        "</a:t>
            </a:r>
            <a:r>
              <a:rPr lang="en-US" altLang="ko-KR" dirty="0" err="1"/>
              <a:t>TradeAllowCount</a:t>
            </a:r>
            <a:r>
              <a:rPr lang="en-US" altLang="ko-KR" dirty="0"/>
              <a:t>": 0, "</a:t>
            </a:r>
            <a:r>
              <a:rPr lang="en-US" altLang="ko-KR" dirty="0" err="1"/>
              <a:t>UpgradeLevel</a:t>
            </a:r>
            <a:r>
              <a:rPr lang="en-US" altLang="ko-KR" dirty="0"/>
              <a:t>": null</a:t>
            </a:r>
          </a:p>
          <a:p>
            <a:r>
              <a:rPr lang="en-US" altLang="ko-KR" dirty="0"/>
              <a:t>      },</a:t>
            </a:r>
          </a:p>
          <a:p>
            <a:r>
              <a:rPr lang="en-US" altLang="ko-KR" dirty="0"/>
              <a:t>      "Options": [</a:t>
            </a:r>
          </a:p>
          <a:p>
            <a:r>
              <a:rPr lang="en-US" altLang="ko-KR" dirty="0"/>
              <a:t>        {</a:t>
            </a:r>
          </a:p>
          <a:p>
            <a:r>
              <a:rPr lang="en-US" altLang="ko-KR" dirty="0"/>
              <a:t>          "Type": "GEM_SKILL_COOLDOWN_REDUCTION", "</a:t>
            </a:r>
            <a:r>
              <a:rPr lang="en-US" altLang="ko-KR" dirty="0" err="1"/>
              <a:t>OptionName</a:t>
            </a:r>
            <a:r>
              <a:rPr lang="en-US" altLang="ko-KR" dirty="0"/>
              <a:t>": "</a:t>
            </a:r>
            <a:r>
              <a:rPr lang="ko-KR" altLang="en-US" dirty="0"/>
              <a:t>여우 불꽃</a:t>
            </a:r>
            <a:r>
              <a:rPr lang="en-US" altLang="ko-KR" dirty="0"/>
              <a:t>",</a:t>
            </a:r>
          </a:p>
          <a:p>
            <a:r>
              <a:rPr lang="en-US" altLang="ko-KR" dirty="0"/>
              <a:t>          "</a:t>
            </a:r>
            <a:r>
              <a:rPr lang="en-US" altLang="ko-KR" dirty="0" err="1"/>
              <a:t>OptionNameTripod</a:t>
            </a:r>
            <a:r>
              <a:rPr lang="en-US" altLang="ko-KR" dirty="0"/>
              <a:t>": "", "Value": 20.0, "</a:t>
            </a:r>
            <a:r>
              <a:rPr lang="en-US" altLang="ko-KR" dirty="0" err="1"/>
              <a:t>IsPenalty</a:t>
            </a:r>
            <a:r>
              <a:rPr lang="en-US" altLang="ko-KR" dirty="0"/>
              <a:t>": false,</a:t>
            </a:r>
          </a:p>
          <a:p>
            <a:r>
              <a:rPr lang="en-US" altLang="ko-KR" dirty="0"/>
              <a:t>          "</a:t>
            </a:r>
            <a:r>
              <a:rPr lang="en-US" altLang="ko-KR" dirty="0" err="1"/>
              <a:t>ClassName</a:t>
            </a:r>
            <a:r>
              <a:rPr lang="en-US" altLang="ko-KR" dirty="0"/>
              <a:t>": "", "</a:t>
            </a:r>
            <a:r>
              <a:rPr lang="en-US" altLang="ko-KR" dirty="0" err="1"/>
              <a:t>IsValuePercentage</a:t>
            </a:r>
            <a:r>
              <a:rPr lang="en-US" altLang="ko-KR" dirty="0"/>
              <a:t>": true</a:t>
            </a:r>
          </a:p>
          <a:p>
            <a:r>
              <a:rPr lang="en-US" altLang="ko-KR" dirty="0"/>
              <a:t>        }</a:t>
            </a:r>
          </a:p>
          <a:p>
            <a:r>
              <a:rPr lang="en-US" altLang="ko-KR" dirty="0"/>
              <a:t>      ]</a:t>
            </a:r>
          </a:p>
          <a:p>
            <a:r>
              <a:rPr lang="en-US" altLang="ko-KR" dirty="0"/>
              <a:t>    },  (</a:t>
            </a:r>
            <a:r>
              <a:rPr lang="ko-KR" altLang="en-US" dirty="0"/>
              <a:t>이 외 </a:t>
            </a:r>
            <a:r>
              <a:rPr lang="en-US" altLang="ko-KR" dirty="0"/>
              <a:t>10</a:t>
            </a:r>
            <a:r>
              <a:rPr lang="ko-KR" altLang="en-US" dirty="0"/>
              <a:t>개항목이 추가로 더 옴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1032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F7517-3484-EB59-2883-18C6CCE0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03093-2D41-FECD-84B1-418C1713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C32C4-E30F-C85A-4D3A-42DB0EEEA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카테고리코드는 별도의 요청을 통해 </a:t>
            </a:r>
            <a:r>
              <a:rPr lang="ko-KR" altLang="en-US" dirty="0" err="1"/>
              <a:t>기록해둠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54CF1F-3F1D-0BF4-2C10-4227366E8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264" y="3692047"/>
            <a:ext cx="3412959" cy="6677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52FDCD3-392F-66A4-78D0-817DBAB6E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686" y="3538388"/>
            <a:ext cx="2611656" cy="7122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3E3AC5-D80F-3C69-4530-A548B4B3E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784" y="5022710"/>
            <a:ext cx="2863918" cy="65291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1D598E2-126E-1266-8472-F1AF079B5A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318" y="5022710"/>
            <a:ext cx="4110391" cy="60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79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2670A-52BC-E004-0CF6-75FB99C3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D5FCC-1610-1EC7-D52E-10903BFE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B9ACB-4F0D-B13D-6648-29E9A5D97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수집 </a:t>
            </a:r>
            <a:r>
              <a:rPr lang="en-US" altLang="ko-KR" dirty="0"/>
              <a:t>– </a:t>
            </a:r>
            <a:r>
              <a:rPr lang="ko-KR" altLang="en-US" dirty="0"/>
              <a:t>강화재료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수집전략</a:t>
            </a:r>
            <a:endParaRPr lang="en-US" altLang="ko-KR" dirty="0"/>
          </a:p>
          <a:p>
            <a:pPr lvl="1"/>
            <a:r>
              <a:rPr lang="en-US" altLang="ko-KR" dirty="0" err="1"/>
              <a:t>TotalCount</a:t>
            </a:r>
            <a:r>
              <a:rPr lang="en-US" altLang="ko-KR" dirty="0"/>
              <a:t> = 19</a:t>
            </a:r>
            <a:r>
              <a:rPr lang="ko-KR" altLang="en-US" dirty="0"/>
              <a:t>이고 </a:t>
            </a:r>
            <a:r>
              <a:rPr lang="ko-KR" altLang="en-US" dirty="0" err="1"/>
              <a:t>요청시</a:t>
            </a:r>
            <a:r>
              <a:rPr lang="ko-KR" altLang="en-US" dirty="0"/>
              <a:t> 한 페이지에 </a:t>
            </a:r>
            <a:r>
              <a:rPr lang="en-US" altLang="ko-KR" dirty="0"/>
              <a:t>10</a:t>
            </a:r>
            <a:r>
              <a:rPr lang="ko-KR" altLang="en-US" dirty="0"/>
              <a:t>개씩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페이지만큼 요청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64A4BD-0A29-E04F-57FB-27C0781F6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8849" y="1380824"/>
            <a:ext cx="3238952" cy="430590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E1F66E1-D356-EA6E-5E86-487A8A255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373" y="160972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817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04A7F-6CD0-021E-6004-2315C9C37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6724C8-0D09-5D8D-37B7-E3B221118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43826-ED31-569C-C268-DE799353D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수집 </a:t>
            </a:r>
            <a:r>
              <a:rPr lang="en-US" altLang="ko-KR" dirty="0"/>
              <a:t>– </a:t>
            </a:r>
            <a:r>
              <a:rPr lang="ko-KR" altLang="en-US" dirty="0" err="1"/>
              <a:t>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수집전략</a:t>
            </a:r>
            <a:endParaRPr lang="en-US" altLang="ko-KR" dirty="0"/>
          </a:p>
          <a:p>
            <a:pPr lvl="1"/>
            <a:r>
              <a:rPr lang="ko-KR" altLang="en-US" dirty="0"/>
              <a:t>희귀도는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endParaRPr lang="en-US" altLang="ko-KR" dirty="0"/>
          </a:p>
          <a:p>
            <a:pPr lvl="2"/>
            <a:r>
              <a:rPr lang="ko-KR" altLang="en-US" dirty="0"/>
              <a:t>희귀</a:t>
            </a:r>
            <a:r>
              <a:rPr lang="en-US" altLang="ko-KR" dirty="0"/>
              <a:t>, </a:t>
            </a:r>
            <a:r>
              <a:rPr lang="ko-KR" altLang="en-US" dirty="0"/>
              <a:t>영웅</a:t>
            </a:r>
            <a:endParaRPr lang="en-US" altLang="ko-KR" dirty="0"/>
          </a:p>
          <a:p>
            <a:pPr lvl="1"/>
            <a:r>
              <a:rPr lang="ko-KR" altLang="en-US" dirty="0"/>
              <a:t>희귀도당 </a:t>
            </a:r>
            <a:r>
              <a:rPr lang="en-US" altLang="ko-KR" dirty="0" err="1"/>
              <a:t>TotalCount</a:t>
            </a:r>
            <a:r>
              <a:rPr lang="en-US" altLang="ko-KR" dirty="0"/>
              <a:t> = 6 </a:t>
            </a:r>
            <a:r>
              <a:rPr lang="ko-KR" altLang="en-US" dirty="0"/>
              <a:t>이고 </a:t>
            </a:r>
            <a:r>
              <a:rPr lang="ko-KR" altLang="en-US" dirty="0" err="1"/>
              <a:t>요청시</a:t>
            </a:r>
            <a:r>
              <a:rPr lang="ko-KR" altLang="en-US" dirty="0"/>
              <a:t> 한 페이지에 </a:t>
            </a:r>
            <a:r>
              <a:rPr lang="en-US" altLang="ko-KR" dirty="0"/>
              <a:t>10</a:t>
            </a:r>
            <a:r>
              <a:rPr lang="ko-KR" altLang="en-US" dirty="0"/>
              <a:t>개씩</a:t>
            </a:r>
            <a:endParaRPr lang="en-US" altLang="ko-KR" dirty="0"/>
          </a:p>
          <a:p>
            <a:pPr lvl="2"/>
            <a:r>
              <a:rPr lang="ko-KR" altLang="en-US" dirty="0"/>
              <a:t>최대</a:t>
            </a:r>
            <a:r>
              <a:rPr lang="en-US" altLang="ko-KR" dirty="0"/>
              <a:t>10</a:t>
            </a:r>
            <a:r>
              <a:rPr lang="ko-KR" altLang="en-US" dirty="0"/>
              <a:t>개아이템 이기에 희귀도당 </a:t>
            </a:r>
            <a:r>
              <a:rPr lang="en-US" altLang="ko-KR" dirty="0"/>
              <a:t>6</a:t>
            </a:r>
            <a:r>
              <a:rPr lang="ko-KR" altLang="en-US" dirty="0"/>
              <a:t>개 아이템을 전부 받음</a:t>
            </a:r>
            <a:endParaRPr lang="en-US" altLang="ko-KR" dirty="0"/>
          </a:p>
          <a:p>
            <a:pPr lvl="2"/>
            <a:r>
              <a:rPr lang="ko-KR" altLang="en-US" dirty="0"/>
              <a:t>희귀도 별 </a:t>
            </a:r>
            <a:r>
              <a:rPr lang="en-US" altLang="ko-KR" dirty="0"/>
              <a:t>1</a:t>
            </a:r>
            <a:r>
              <a:rPr lang="ko-KR" altLang="en-US" dirty="0" err="1"/>
              <a:t>회요청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4ED428-321D-057C-773F-545578148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016" y="1614172"/>
            <a:ext cx="3353268" cy="45250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241DF37-D818-02B9-9DD6-2B57C5D87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1481854"/>
            <a:ext cx="8763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06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2AA8C-69B2-20D6-51AA-652EC3F6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A23068-83DE-97E8-EFCB-D2A4DEAB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9823A-7B6E-1241-2D12-3729E6ACF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수집 </a:t>
            </a:r>
            <a:r>
              <a:rPr lang="en-US" altLang="ko-KR" dirty="0"/>
              <a:t>– </a:t>
            </a:r>
            <a:r>
              <a:rPr lang="ko-KR" altLang="en-US" dirty="0"/>
              <a:t>각인서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수집전략</a:t>
            </a:r>
            <a:endParaRPr lang="en-US" altLang="ko-KR" dirty="0"/>
          </a:p>
          <a:p>
            <a:pPr lvl="1"/>
            <a:r>
              <a:rPr lang="ko-KR" altLang="en-US" dirty="0"/>
              <a:t>희귀도 </a:t>
            </a:r>
            <a:r>
              <a:rPr lang="en-US" altLang="ko-KR" dirty="0"/>
              <a:t>– </a:t>
            </a:r>
            <a:r>
              <a:rPr lang="ko-KR" altLang="en-US" dirty="0"/>
              <a:t>유물 등급만이 유효</a:t>
            </a:r>
            <a:endParaRPr lang="en-US" altLang="ko-KR" dirty="0"/>
          </a:p>
          <a:p>
            <a:pPr lvl="1"/>
            <a:r>
              <a:rPr lang="ko-KR" altLang="en-US" dirty="0"/>
              <a:t>많은 종류의 각인서 중 실전에 쓰이는 상위 </a:t>
            </a:r>
            <a:r>
              <a:rPr lang="en-US" altLang="ko-KR" dirty="0"/>
              <a:t>20</a:t>
            </a:r>
            <a:r>
              <a:rPr lang="ko-KR" altLang="en-US" dirty="0"/>
              <a:t>개의 </a:t>
            </a:r>
            <a:r>
              <a:rPr lang="ko-KR" altLang="en-US" dirty="0" err="1"/>
              <a:t>각인서만을</a:t>
            </a:r>
            <a:r>
              <a:rPr lang="ko-KR" altLang="en-US" dirty="0"/>
              <a:t> 선별</a:t>
            </a:r>
            <a:endParaRPr lang="en-US" altLang="ko-KR" dirty="0"/>
          </a:p>
          <a:p>
            <a:pPr lvl="1"/>
            <a:r>
              <a:rPr lang="ko-KR" altLang="en-US" dirty="0"/>
              <a:t>각각 </a:t>
            </a:r>
            <a:r>
              <a:rPr lang="ko-KR" altLang="en-US" dirty="0" err="1"/>
              <a:t>따로요청</a:t>
            </a:r>
            <a:endParaRPr lang="en-US" altLang="ko-KR" dirty="0"/>
          </a:p>
          <a:p>
            <a:pPr lvl="2"/>
            <a:r>
              <a:rPr lang="en-US" altLang="ko-KR" dirty="0"/>
              <a:t>20</a:t>
            </a:r>
            <a:r>
              <a:rPr lang="ko-KR" altLang="en-US" dirty="0"/>
              <a:t>회 요청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7AE375-1854-86DA-FEB5-0142128D6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478" y="123825"/>
            <a:ext cx="3246874" cy="66103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2479D60-8A5A-BE8B-188A-D7DDFAE87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348" y="1606226"/>
            <a:ext cx="766187" cy="76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97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D1EC-0B8B-1265-1DEB-C7CD5AA7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3E437-C710-A566-6C75-76FD128F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4BEDB-3798-35EC-2517-76B7D3927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수집 </a:t>
            </a:r>
            <a:r>
              <a:rPr lang="en-US" altLang="ko-KR" dirty="0"/>
              <a:t>– </a:t>
            </a:r>
            <a:r>
              <a:rPr lang="ko-KR" altLang="en-US" dirty="0"/>
              <a:t>생활재료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수집전략</a:t>
            </a:r>
            <a:endParaRPr lang="en-US" altLang="ko-KR" dirty="0"/>
          </a:p>
          <a:p>
            <a:pPr lvl="1"/>
            <a:r>
              <a:rPr lang="en-US" altLang="ko-KR" dirty="0" err="1"/>
              <a:t>TotalCount</a:t>
            </a:r>
            <a:r>
              <a:rPr lang="en-US" altLang="ko-KR" dirty="0"/>
              <a:t> = 35</a:t>
            </a:r>
            <a:r>
              <a:rPr lang="ko-KR" altLang="en-US" dirty="0"/>
              <a:t>이고 </a:t>
            </a:r>
            <a:r>
              <a:rPr lang="ko-KR" altLang="en-US" dirty="0" err="1"/>
              <a:t>요청시</a:t>
            </a:r>
            <a:r>
              <a:rPr lang="ko-KR" altLang="en-US" dirty="0"/>
              <a:t> 한 페이지에 </a:t>
            </a:r>
            <a:r>
              <a:rPr lang="en-US" altLang="ko-KR" dirty="0"/>
              <a:t>10</a:t>
            </a:r>
            <a:r>
              <a:rPr lang="ko-KR" altLang="en-US" dirty="0"/>
              <a:t>개씩</a:t>
            </a:r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페이지만큼 요청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B3BE89-3BD6-E98A-7476-5D363167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997" y="1376045"/>
            <a:ext cx="3258005" cy="454405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1715625-F32E-CCEA-E082-90DFCC837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429" y="1680898"/>
            <a:ext cx="644234" cy="64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80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F6708-03B9-0958-F586-1C585BA7E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2C122-99EE-FEC8-3506-7A4F0313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C50BDC-E29E-E544-27C5-802535EED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수집 </a:t>
            </a:r>
            <a:r>
              <a:rPr lang="en-US" altLang="ko-KR" dirty="0"/>
              <a:t>– </a:t>
            </a:r>
            <a:r>
              <a:rPr lang="ko-KR" altLang="en-US" dirty="0"/>
              <a:t>보석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수집전략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개의 레벨에 대한 데이터 수집</a:t>
            </a:r>
            <a:endParaRPr lang="en-US" altLang="ko-KR" dirty="0"/>
          </a:p>
          <a:p>
            <a:pPr lvl="2"/>
            <a:r>
              <a:rPr lang="en-US" altLang="ko-KR" dirty="0"/>
              <a:t>5, 6, 7, 8, 9, 10</a:t>
            </a:r>
          </a:p>
          <a:p>
            <a:pPr lvl="1"/>
            <a:r>
              <a:rPr lang="en-US" altLang="ko-KR" dirty="0"/>
              <a:t>4</a:t>
            </a:r>
            <a:r>
              <a:rPr lang="ko-KR" altLang="en-US" dirty="0" err="1"/>
              <a:t>티어</a:t>
            </a:r>
            <a:r>
              <a:rPr lang="ko-KR" altLang="en-US" dirty="0"/>
              <a:t> 보석만이 유효</a:t>
            </a:r>
            <a:endParaRPr lang="en-US" altLang="ko-KR" dirty="0"/>
          </a:p>
          <a:p>
            <a:pPr lvl="1"/>
            <a:r>
              <a:rPr lang="ko-KR" altLang="en-US" dirty="0"/>
              <a:t>즉시구매가 기준 오름차순으로 정렬</a:t>
            </a:r>
            <a:endParaRPr lang="en-US" altLang="ko-KR" dirty="0"/>
          </a:p>
          <a:p>
            <a:pPr lvl="1"/>
            <a:r>
              <a:rPr lang="ko-KR" altLang="en-US" dirty="0"/>
              <a:t>레벨별로 제일 저렴한 </a:t>
            </a:r>
            <a:r>
              <a:rPr lang="en-US" altLang="ko-KR" dirty="0"/>
              <a:t>10</a:t>
            </a:r>
            <a:r>
              <a:rPr lang="ko-KR" altLang="en-US" dirty="0"/>
              <a:t>개의 보석의 </a:t>
            </a:r>
            <a:r>
              <a:rPr lang="ko-KR" altLang="en-US" dirty="0" err="1"/>
              <a:t>즉시구매가를</a:t>
            </a:r>
            <a:r>
              <a:rPr lang="ko-KR" altLang="en-US" dirty="0"/>
              <a:t> 수집</a:t>
            </a:r>
            <a:endParaRPr lang="en-US" altLang="ko-KR" dirty="0"/>
          </a:p>
          <a:p>
            <a:pPr lvl="2"/>
            <a:r>
              <a:rPr lang="ko-KR" altLang="en-US" dirty="0"/>
              <a:t>보석의 경우 </a:t>
            </a:r>
            <a:r>
              <a:rPr lang="ko-KR" altLang="en-US" dirty="0" err="1"/>
              <a:t>빨리팔고</a:t>
            </a:r>
            <a:r>
              <a:rPr lang="ko-KR" altLang="en-US" dirty="0"/>
              <a:t> 싶은 </a:t>
            </a:r>
            <a:r>
              <a:rPr lang="ko-KR" altLang="en-US" dirty="0" err="1"/>
              <a:t>심리때문에</a:t>
            </a:r>
            <a:endParaRPr lang="en-US" altLang="ko-KR" dirty="0"/>
          </a:p>
          <a:p>
            <a:pPr lvl="2"/>
            <a:r>
              <a:rPr lang="ko-KR" altLang="en-US" dirty="0"/>
              <a:t>터무니없이 낮은 가격에 올라오는 경우가 있음</a:t>
            </a:r>
            <a:endParaRPr lang="en-US" altLang="ko-KR" dirty="0"/>
          </a:p>
          <a:p>
            <a:pPr lvl="2"/>
            <a:r>
              <a:rPr lang="ko-KR" altLang="en-US" dirty="0"/>
              <a:t>추후 하위 </a:t>
            </a:r>
            <a:r>
              <a:rPr lang="en-US" altLang="ko-KR" dirty="0"/>
              <a:t>10</a:t>
            </a:r>
            <a:r>
              <a:rPr lang="ko-KR" altLang="en-US" dirty="0"/>
              <a:t>개 보석의 평균가를 사용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8E9CE3-775A-34D1-DB67-82A88AAEE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743" y="323849"/>
            <a:ext cx="3126131" cy="6410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C180961-F668-3BA0-D978-3A3E45AD8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1601232"/>
            <a:ext cx="742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09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E9823-03D3-7A75-05D7-76872D52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A1F96-2549-E4EC-E515-A96772DE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F2836-777E-34FD-ADF9-AF0C01545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받은 </a:t>
            </a:r>
            <a:r>
              <a:rPr lang="en-US" altLang="ko-KR" dirty="0" err="1"/>
              <a:t>json</a:t>
            </a:r>
            <a:r>
              <a:rPr lang="en-US" altLang="ko-KR" dirty="0"/>
              <a:t> </a:t>
            </a:r>
            <a:r>
              <a:rPr lang="ko-KR" altLang="en-US" dirty="0"/>
              <a:t>데이터를 클래스로 치환</a:t>
            </a:r>
            <a:endParaRPr lang="en-US" altLang="ko-KR" dirty="0"/>
          </a:p>
          <a:p>
            <a:r>
              <a:rPr lang="ko-KR" altLang="en-US" dirty="0"/>
              <a:t>원하는 데이터만을 </a:t>
            </a:r>
            <a:r>
              <a:rPr lang="ko-KR" altLang="en-US" dirty="0" err="1"/>
              <a:t>뽑아쓸</a:t>
            </a:r>
            <a:r>
              <a:rPr lang="ko-KR" altLang="en-US" dirty="0"/>
              <a:t> 수 있게끔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20E6E4-89E5-CE9F-BF9E-C479E908F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1879563"/>
            <a:ext cx="5026152" cy="17883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8CE0FF-C69D-D4E9-FE4A-8DD6AA255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173" y="3947615"/>
            <a:ext cx="4088800" cy="27770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46792F6-2615-881D-6D5E-00008BC51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" y="4083212"/>
            <a:ext cx="7381875" cy="264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63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152F4-4CD3-3F01-E847-5ED61F2F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0FA9C-1EE2-48E0-BB73-BDAACD34C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1902A-6940-04D3-C7E5-38C33F72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아이템을 </a:t>
            </a:r>
            <a:r>
              <a:rPr lang="ko-KR" altLang="en-US" dirty="0" err="1"/>
              <a:t>특정지을</a:t>
            </a:r>
            <a:r>
              <a:rPr lang="ko-KR" altLang="en-US" dirty="0"/>
              <a:t> 수 있게끔 포맷</a:t>
            </a:r>
            <a:endParaRPr lang="en-US" altLang="ko-KR" dirty="0"/>
          </a:p>
          <a:p>
            <a:pPr lvl="1"/>
            <a:r>
              <a:rPr lang="ko-KR" altLang="en-US" dirty="0"/>
              <a:t>등급 </a:t>
            </a:r>
            <a:r>
              <a:rPr lang="en-US" altLang="ko-KR" dirty="0"/>
              <a:t>+ </a:t>
            </a:r>
            <a:r>
              <a:rPr lang="ko-KR" altLang="en-US" dirty="0"/>
              <a:t>이름</a:t>
            </a:r>
          </a:p>
          <a:p>
            <a:r>
              <a:rPr lang="ko-KR" altLang="en-US" dirty="0"/>
              <a:t>그리고 뒤에 해당 아이템의 가격을 붙임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3C16F9-C19F-1730-3655-3F19E584F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317" y="3505198"/>
            <a:ext cx="4025347" cy="273393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AD8D13-438D-2EB8-969A-A4EACD626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11" y="3505199"/>
            <a:ext cx="6400262" cy="273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62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F1D6-EB1D-99A6-4FDC-ED851E7E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5B086-8520-3314-E126-4EA28466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3D6FB1-3C2E-68F9-A8E4-D00B08FFE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구글 스프레드시트에 데이터를 전송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6B4070-261E-452F-42A7-1CCA2EBAF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2937010"/>
            <a:ext cx="8916644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76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C86E4-2916-ED69-53A0-8E122DFF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A93B3-38D6-EB85-FB2B-B5277C1A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C218B-32D9-52DC-7A49-F2DD00E73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사전에 약속된 이름의 </a:t>
            </a:r>
            <a:r>
              <a:rPr lang="ko-KR" altLang="en-US" dirty="0" err="1"/>
              <a:t>어트리뷰트에</a:t>
            </a:r>
            <a:r>
              <a:rPr lang="ko-KR" altLang="en-US" dirty="0"/>
              <a:t> 데이터 넣음</a:t>
            </a:r>
            <a:endParaRPr lang="en-US" altLang="ko-KR" dirty="0"/>
          </a:p>
          <a:p>
            <a:pPr lvl="1"/>
            <a:r>
              <a:rPr lang="en-US" altLang="ko-KR" dirty="0"/>
              <a:t>time = </a:t>
            </a:r>
            <a:r>
              <a:rPr lang="ko-KR" altLang="en-US" dirty="0"/>
              <a:t>현재시각</a:t>
            </a:r>
            <a:r>
              <a:rPr lang="en-US" altLang="ko-KR" dirty="0"/>
              <a:t>(“</a:t>
            </a:r>
            <a:r>
              <a:rPr lang="ko-KR" altLang="en-US" dirty="0" err="1"/>
              <a:t>년년년년월월일일</a:t>
            </a:r>
            <a:r>
              <a:rPr lang="ko-KR" altLang="en-US" dirty="0"/>
              <a:t> </a:t>
            </a:r>
            <a:r>
              <a:rPr lang="ko-KR" altLang="en-US" dirty="0" err="1"/>
              <a:t>시시분분</a:t>
            </a:r>
            <a:r>
              <a:rPr lang="en-US" altLang="ko-KR" dirty="0"/>
              <a:t>” </a:t>
            </a:r>
            <a:r>
              <a:rPr lang="ko-KR" altLang="en-US" dirty="0"/>
              <a:t>형태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ItemData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아이템 정보</a:t>
            </a:r>
            <a:r>
              <a:rPr lang="en-US" altLang="ko-KR" dirty="0"/>
              <a:t>(“</a:t>
            </a:r>
            <a:r>
              <a:rPr lang="ko-KR" altLang="en-US" dirty="0"/>
              <a:t>아이템</a:t>
            </a:r>
            <a:r>
              <a:rPr lang="en-US" altLang="ko-KR" dirty="0"/>
              <a:t>1</a:t>
            </a:r>
            <a:r>
              <a:rPr lang="ko-KR" altLang="en-US" dirty="0"/>
              <a:t>이름</a:t>
            </a:r>
            <a:r>
              <a:rPr lang="en-US" altLang="ko-KR" dirty="0"/>
              <a:t>=</a:t>
            </a:r>
            <a:r>
              <a:rPr lang="ko-KR" altLang="en-US" dirty="0"/>
              <a:t>가격</a:t>
            </a:r>
            <a:r>
              <a:rPr lang="en-US" altLang="ko-KR" dirty="0"/>
              <a:t>,</a:t>
            </a:r>
            <a:r>
              <a:rPr lang="ko-KR" altLang="en-US" dirty="0"/>
              <a:t> 아이템</a:t>
            </a:r>
            <a:r>
              <a:rPr lang="en-US" altLang="ko-KR" dirty="0"/>
              <a:t>2</a:t>
            </a:r>
            <a:r>
              <a:rPr lang="ko-KR" altLang="en-US" dirty="0"/>
              <a:t>이름</a:t>
            </a:r>
            <a:r>
              <a:rPr lang="en-US" altLang="ko-KR" dirty="0"/>
              <a:t>=</a:t>
            </a:r>
            <a:r>
              <a:rPr lang="ko-KR" altLang="en-US" dirty="0"/>
              <a:t>가격</a:t>
            </a:r>
            <a:r>
              <a:rPr lang="en-US" altLang="ko-KR" dirty="0"/>
              <a:t>, … , </a:t>
            </a:r>
            <a:r>
              <a:rPr lang="ko-KR" altLang="en-US" dirty="0"/>
              <a:t>아이템</a:t>
            </a:r>
            <a:r>
              <a:rPr lang="en-US" altLang="ko-KR" dirty="0"/>
              <a:t>92</a:t>
            </a:r>
            <a:r>
              <a:rPr lang="ko-KR" altLang="en-US" dirty="0"/>
              <a:t>이름</a:t>
            </a:r>
            <a:r>
              <a:rPr lang="en-US" altLang="ko-KR" dirty="0"/>
              <a:t>=</a:t>
            </a:r>
            <a:r>
              <a:rPr lang="ko-KR" altLang="en-US" dirty="0"/>
              <a:t>가격</a:t>
            </a:r>
            <a:r>
              <a:rPr lang="en-US" altLang="ko-KR" dirty="0"/>
              <a:t>”</a:t>
            </a:r>
            <a:r>
              <a:rPr lang="ko-KR" altLang="en-US" dirty="0"/>
              <a:t> 형태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구글 스프레드시트에 데이터를 전송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5DA132-ACA7-2065-69F7-C52D8FAD5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3524158"/>
            <a:ext cx="9659698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52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53-5FC7-020E-6283-98E029D8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1B640-9AA0-6645-1B8D-48839496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C66214-1BD0-181A-C2DF-BD9F305F7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Apps Script </a:t>
            </a:r>
            <a:r>
              <a:rPr lang="ko-KR" altLang="en-US" dirty="0"/>
              <a:t>를 통해 데이터 처리</a:t>
            </a:r>
            <a:endParaRPr lang="en-US" altLang="ko-KR" dirty="0"/>
          </a:p>
          <a:p>
            <a:pPr lvl="1"/>
            <a:r>
              <a:rPr lang="en-US" altLang="ko-KR" dirty="0"/>
              <a:t>time </a:t>
            </a:r>
            <a:r>
              <a:rPr lang="ko-KR" altLang="en-US" dirty="0"/>
              <a:t>및 </a:t>
            </a:r>
            <a:r>
              <a:rPr lang="en-US" altLang="ko-KR" dirty="0" err="1"/>
              <a:t>itemData</a:t>
            </a:r>
            <a:r>
              <a:rPr lang="en-US" altLang="ko-KR" dirty="0"/>
              <a:t> </a:t>
            </a:r>
            <a:r>
              <a:rPr lang="ko-KR" altLang="en-US" dirty="0" err="1"/>
              <a:t>어트리뷰트에</a:t>
            </a:r>
            <a:r>
              <a:rPr lang="ko-KR" altLang="en-US" dirty="0"/>
              <a:t> 담긴 값을 스프레드시트에 </a:t>
            </a:r>
            <a:r>
              <a:rPr lang="ko-KR" altLang="en-US" dirty="0" err="1"/>
              <a:t>한줄</a:t>
            </a:r>
            <a:r>
              <a:rPr lang="ko-KR" altLang="en-US" dirty="0"/>
              <a:t> 추가한다</a:t>
            </a:r>
            <a:endParaRPr lang="en-US" altLang="ko-KR" dirty="0"/>
          </a:p>
          <a:p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Lambda </a:t>
            </a:r>
            <a:r>
              <a:rPr lang="ko-KR" altLang="en-US" dirty="0"/>
              <a:t>와 유사한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8A8984-A8A3-E4C9-BF56-CA8A42852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433" y="3032621"/>
            <a:ext cx="9349133" cy="373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40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F7A73-8450-D109-9E47-9046A0482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4B9AE-B647-D628-D61A-E552FAE6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5FC2B5-8458-EC40-657A-AFA61CB3D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Apps Script </a:t>
            </a:r>
            <a:r>
              <a:rPr lang="ko-KR" altLang="en-US" dirty="0"/>
              <a:t>를 통해 데이터 수신</a:t>
            </a:r>
            <a:endParaRPr lang="en-US" altLang="ko-KR" dirty="0"/>
          </a:p>
          <a:p>
            <a:r>
              <a:rPr lang="en-US" altLang="ko-KR" dirty="0"/>
              <a:t>AWS</a:t>
            </a:r>
            <a:r>
              <a:rPr lang="ko-KR" altLang="en-US" dirty="0"/>
              <a:t> </a:t>
            </a:r>
            <a:r>
              <a:rPr lang="en-US" altLang="ko-KR" dirty="0"/>
              <a:t>API Gateway </a:t>
            </a:r>
            <a:r>
              <a:rPr lang="ko-KR" altLang="en-US" dirty="0"/>
              <a:t>와 유사한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E0B48E-C7A6-32D1-EC9D-E9A0978E4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2974951"/>
            <a:ext cx="7993789" cy="374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89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3B17-EA76-4A7C-2A71-4581F16C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E4086-E75D-3379-A2B0-687DC34A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7F0B0D-A276-27F0-EE4E-FD18DC83A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유니티 프로젝트를 </a:t>
            </a:r>
            <a:r>
              <a:rPr lang="en-US" altLang="ko-KR" dirty="0"/>
              <a:t>.</a:t>
            </a:r>
            <a:r>
              <a:rPr lang="en-US" altLang="ko-KR" dirty="0" err="1"/>
              <a:t>apk</a:t>
            </a:r>
            <a:r>
              <a:rPr lang="en-US" altLang="ko-KR" dirty="0"/>
              <a:t> </a:t>
            </a:r>
            <a:r>
              <a:rPr lang="ko-KR" altLang="en-US" dirty="0"/>
              <a:t>파일로 빌드</a:t>
            </a:r>
            <a:endParaRPr lang="en-US" altLang="ko-KR" dirty="0"/>
          </a:p>
          <a:p>
            <a:r>
              <a:rPr lang="ko-KR" altLang="en-US" dirty="0" err="1"/>
              <a:t>공기계</a:t>
            </a:r>
            <a:r>
              <a:rPr lang="ko-KR" altLang="en-US" dirty="0"/>
              <a:t> 구매 후 </a:t>
            </a:r>
            <a:r>
              <a:rPr lang="en-US" altLang="ko-KR" dirty="0"/>
              <a:t>24</a:t>
            </a:r>
            <a:r>
              <a:rPr lang="ko-KR" altLang="en-US" dirty="0"/>
              <a:t>시간 가동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5F9A6-788E-1B4E-67EA-B43C00757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635" y="2689699"/>
            <a:ext cx="1966763" cy="41520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1CAEDB-F53B-9119-9901-E65DAACB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185" y="2689699"/>
            <a:ext cx="1966762" cy="4152052"/>
          </a:xfrm>
          <a:prstGeom prst="rect">
            <a:avLst/>
          </a:prstGeom>
        </p:spPr>
      </p:pic>
      <p:pic>
        <p:nvPicPr>
          <p:cNvPr id="7" name="내용 개체 틀 6" descr="텍스트, 전자 기기, 정보기기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AAD95C-CF19-F509-21E6-D67FA2599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123018" y="2581813"/>
            <a:ext cx="4733925" cy="355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68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CEAD1-E7B7-A307-DF58-1E4456D7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7803A-4584-3213-0FAE-3FEDE988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수집 시스템 구축과정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D08034-9876-8F63-6ECD-5275997A5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구글 스프레드시트에 데이터 축적</a:t>
            </a:r>
            <a:endParaRPr lang="en-US" altLang="ko-KR" dirty="0"/>
          </a:p>
          <a:p>
            <a:r>
              <a:rPr lang="en-US" altLang="ko-KR" sz="1000" dirty="0"/>
              <a:t>https://docs.google.com/spreadsheets/d/1WYZKOmP8XK1WghRUOhOlhurfjvBghvqO70YgUW2GB-I/edit?usp=sharing</a:t>
            </a:r>
            <a:endParaRPr lang="ko-KR" altLang="en-US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176AF2-9244-2527-3694-C6480A4F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731" y="2466637"/>
            <a:ext cx="9218538" cy="4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238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0613-B402-E1D5-B469-44E0F86E0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8687A-7BFC-7EE3-51CE-76ECCD4F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EE38F-D870-F51C-DF17-87D0B930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판다스의</a:t>
            </a:r>
            <a:r>
              <a:rPr lang="ko-KR" altLang="en-US" dirty="0"/>
              <a:t> 데이터프레임에 축적된 데이터를 넣으려 했으나</a:t>
            </a:r>
            <a:endParaRPr lang="en-US" altLang="ko-KR" dirty="0"/>
          </a:p>
          <a:p>
            <a:r>
              <a:rPr lang="ko-KR" altLang="en-US" dirty="0" err="1"/>
              <a:t>파이썬을</a:t>
            </a:r>
            <a:r>
              <a:rPr lang="ko-KR" altLang="en-US" dirty="0"/>
              <a:t> 통해 포맷하여 넣는데 시간이 너무 </a:t>
            </a:r>
            <a:r>
              <a:rPr lang="ko-KR" altLang="en-US" dirty="0" err="1"/>
              <a:t>오래걸림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en-US" dirty="0"/>
              <a:t>데이터프레임에 넣기 좋은 형태로 양식을 변환하는 프로그램 개발</a:t>
            </a:r>
          </a:p>
        </p:txBody>
      </p:sp>
    </p:spTree>
    <p:extLst>
      <p:ext uri="{BB962C8B-B14F-4D97-AF65-F5344CB8AC3E}">
        <p14:creationId xmlns:p14="http://schemas.microsoft.com/office/powerpoint/2010/main" val="1689346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A5D0-963F-06F8-0865-9E6BD396C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A4F12-0D29-E88A-388C-29EB3BCE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3C601B-F8CE-92DE-8D8D-B2BAFFBBE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구글 스프레드시트는 </a:t>
            </a:r>
            <a:r>
              <a:rPr lang="en-US" altLang="ko-KR" dirty="0"/>
              <a:t>API </a:t>
            </a:r>
            <a:r>
              <a:rPr lang="ko-KR" altLang="en-US" dirty="0"/>
              <a:t>요청을 통해</a:t>
            </a:r>
            <a:endParaRPr lang="en-US" altLang="ko-KR" dirty="0"/>
          </a:p>
          <a:p>
            <a:r>
              <a:rPr lang="en-US" altLang="ko-KR" dirty="0"/>
              <a:t>csv, </a:t>
            </a:r>
            <a:r>
              <a:rPr lang="en-US" altLang="ko-KR" dirty="0" err="1"/>
              <a:t>tsv</a:t>
            </a:r>
            <a:r>
              <a:rPr lang="en-US" altLang="ko-KR" dirty="0"/>
              <a:t> </a:t>
            </a:r>
            <a:r>
              <a:rPr lang="ko-KR" altLang="en-US" dirty="0"/>
              <a:t>로 받을 수 있음</a:t>
            </a:r>
            <a:endParaRPr lang="en-US" altLang="ko-KR" dirty="0"/>
          </a:p>
          <a:p>
            <a:r>
              <a:rPr lang="ko-KR" altLang="en-US" dirty="0"/>
              <a:t>축적된 데이터를 다음과 같이</a:t>
            </a:r>
            <a:endParaRPr lang="en-US" altLang="ko-KR" dirty="0"/>
          </a:p>
          <a:p>
            <a:r>
              <a:rPr lang="en-US" altLang="ko-KR" dirty="0" err="1"/>
              <a:t>lostarkData.json</a:t>
            </a:r>
            <a:r>
              <a:rPr lang="ko-KR" altLang="en-US" dirty="0"/>
              <a:t> 파일로 변환</a:t>
            </a:r>
            <a:endParaRPr lang="en-US" altLang="ko-KR" dirty="0"/>
          </a:p>
          <a:p>
            <a:pPr lvl="1"/>
            <a:r>
              <a:rPr lang="ko-KR" altLang="en-US" dirty="0" err="1"/>
              <a:t>결측부분은</a:t>
            </a:r>
            <a:r>
              <a:rPr lang="ko-KR" altLang="en-US" dirty="0"/>
              <a:t> </a:t>
            </a:r>
            <a:r>
              <a:rPr lang="en-US" altLang="ko-KR" dirty="0"/>
              <a:t>“nan” </a:t>
            </a:r>
            <a:r>
              <a:rPr lang="ko-KR" altLang="en-US" dirty="0"/>
              <a:t>으로 </a:t>
            </a:r>
            <a:r>
              <a:rPr lang="ko-KR" altLang="en-US" dirty="0" err="1"/>
              <a:t>채워짐</a:t>
            </a:r>
            <a:endParaRPr lang="en-US" altLang="ko-KR" dirty="0"/>
          </a:p>
          <a:p>
            <a:pPr lvl="1"/>
            <a:r>
              <a:rPr lang="en-US" altLang="ko-KR" dirty="0" err="1"/>
              <a:t>pd.read_json</a:t>
            </a:r>
            <a:r>
              <a:rPr lang="en-US" altLang="ko-KR" dirty="0"/>
              <a:t>() </a:t>
            </a:r>
            <a:r>
              <a:rPr lang="ko-KR" altLang="en-US" dirty="0"/>
              <a:t>을 통해 바로 변환가능</a:t>
            </a: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8A1CFF81-6326-5589-1C14-5F73D0574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568872"/>
              </p:ext>
            </p:extLst>
          </p:nvPr>
        </p:nvGraphicFramePr>
        <p:xfrm>
          <a:off x="1428282" y="5000122"/>
          <a:ext cx="1733785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723929" imgH="514350" progId="Package">
                  <p:embed/>
                </p:oleObj>
              </mc:Choice>
              <mc:Fallback>
                <p:oleObj name="포장기 셸 개체" showAsIcon="1" r:id="rId3" imgW="7239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8282" y="5000122"/>
                        <a:ext cx="1733785" cy="123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88AB2187-28C7-A78C-EEA7-73D2F0415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5271" y="221932"/>
            <a:ext cx="4652910" cy="6414135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7E4D462-D775-67A2-89D5-A4158B2B0666}"/>
              </a:ext>
            </a:extLst>
          </p:cNvPr>
          <p:cNvSpPr txBox="1">
            <a:spLocks/>
          </p:cNvSpPr>
          <p:nvPr/>
        </p:nvSpPr>
        <p:spPr>
          <a:xfrm>
            <a:off x="4909527" y="3478053"/>
            <a:ext cx="3167673" cy="3370421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[</a:t>
            </a:r>
          </a:p>
          <a:p>
            <a:r>
              <a:rPr lang="en-US" altLang="ko-KR" dirty="0"/>
              <a:t>  {</a:t>
            </a:r>
          </a:p>
          <a:p>
            <a:r>
              <a:rPr lang="en-US" altLang="ko-KR" dirty="0"/>
              <a:t>    "date":"20250927 0418",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일반 운명의 </a:t>
            </a:r>
            <a:r>
              <a:rPr lang="ko-KR" altLang="en-US" dirty="0" err="1"/>
              <a:t>수호석</a:t>
            </a:r>
            <a:r>
              <a:rPr lang="en-US" altLang="ko-KR" dirty="0"/>
              <a:t>":"2",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일반 운명의 </a:t>
            </a:r>
            <a:r>
              <a:rPr lang="ko-KR" altLang="en-US" dirty="0" err="1"/>
              <a:t>파괴석</a:t>
            </a:r>
            <a:r>
              <a:rPr lang="en-US" altLang="ko-KR" dirty="0"/>
              <a:t>":"37",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고급 운명의 파편 주머니</a:t>
            </a:r>
            <a:r>
              <a:rPr lang="en-US" altLang="ko-KR" dirty="0"/>
              <a:t>(</a:t>
            </a:r>
            <a:r>
              <a:rPr lang="ko-KR" altLang="en-US" dirty="0"/>
              <a:t>소</a:t>
            </a:r>
            <a:r>
              <a:rPr lang="en-US" altLang="ko-KR" dirty="0"/>
              <a:t>)":"175",</a:t>
            </a:r>
          </a:p>
          <a:p>
            <a:r>
              <a:rPr lang="en-US" altLang="ko-KR" dirty="0"/>
              <a:t>    … 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유물 </a:t>
            </a:r>
            <a:r>
              <a:rPr lang="en-US" altLang="ko-KR" dirty="0"/>
              <a:t>8</a:t>
            </a:r>
            <a:r>
              <a:rPr lang="ko-KR" altLang="en-US" dirty="0"/>
              <a:t>레벨 보석</a:t>
            </a:r>
            <a:r>
              <a:rPr lang="en-US" altLang="ko-KR" dirty="0"/>
              <a:t>":"242228.9",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유물 </a:t>
            </a:r>
            <a:r>
              <a:rPr lang="en-US" altLang="ko-KR" dirty="0"/>
              <a:t>9</a:t>
            </a:r>
            <a:r>
              <a:rPr lang="ko-KR" altLang="en-US" dirty="0"/>
              <a:t>레벨 보석</a:t>
            </a:r>
            <a:r>
              <a:rPr lang="en-US" altLang="ko-KR" dirty="0"/>
              <a:t>":"706950",</a:t>
            </a:r>
          </a:p>
          <a:p>
            <a:r>
              <a:rPr lang="en-US" altLang="ko-KR" dirty="0"/>
              <a:t>    "</a:t>
            </a:r>
            <a:r>
              <a:rPr lang="ko-KR" altLang="en-US" dirty="0"/>
              <a:t>고대 </a:t>
            </a:r>
            <a:r>
              <a:rPr lang="en-US" altLang="ko-KR" dirty="0"/>
              <a:t>10</a:t>
            </a:r>
            <a:r>
              <a:rPr lang="ko-KR" altLang="en-US" dirty="0"/>
              <a:t>레벨 보석</a:t>
            </a:r>
            <a:r>
              <a:rPr lang="en-US" altLang="ko-KR" dirty="0"/>
              <a:t>":"1949299.9“</a:t>
            </a:r>
          </a:p>
          <a:p>
            <a:r>
              <a:rPr lang="en-US" altLang="ko-KR" dirty="0"/>
              <a:t>  }, … </a:t>
            </a:r>
          </a:p>
          <a:p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027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6E2D-C652-AE8C-5A3E-BC3FD49B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0B26D-9973-D17D-0EA4-CA9216E3A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A3613-086D-2765-8F86-4FCD2AEDE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데이터를 </a:t>
            </a:r>
            <a:r>
              <a:rPr lang="ko-KR" altLang="en-US" dirty="0" err="1"/>
              <a:t>수집하는도중엔</a:t>
            </a:r>
            <a:r>
              <a:rPr lang="ko-KR" altLang="en-US" dirty="0"/>
              <a:t> </a:t>
            </a:r>
            <a:r>
              <a:rPr lang="ko-KR" altLang="en-US" dirty="0" err="1"/>
              <a:t>결측치가</a:t>
            </a:r>
            <a:r>
              <a:rPr lang="ko-KR" altLang="en-US" dirty="0"/>
              <a:t> 생김</a:t>
            </a:r>
            <a:endParaRPr lang="en-US" altLang="ko-KR" dirty="0"/>
          </a:p>
          <a:p>
            <a:pPr lvl="1"/>
            <a:r>
              <a:rPr lang="ko-KR" altLang="en-US" dirty="0"/>
              <a:t>정기점검</a:t>
            </a:r>
            <a:r>
              <a:rPr lang="en-US" altLang="ko-KR" dirty="0"/>
              <a:t>, </a:t>
            </a:r>
            <a:r>
              <a:rPr lang="ko-KR" altLang="en-US" dirty="0"/>
              <a:t>핸드폰 </a:t>
            </a:r>
            <a:r>
              <a:rPr lang="ko-KR" altLang="en-US" dirty="0" err="1"/>
              <a:t>전원꺼짐</a:t>
            </a:r>
            <a:r>
              <a:rPr lang="ko-KR" altLang="en-US" dirty="0"/>
              <a:t> 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전처리</a:t>
            </a:r>
            <a:endParaRPr lang="en-US" altLang="ko-KR" dirty="0"/>
          </a:p>
          <a:p>
            <a:pPr lvl="1"/>
            <a:r>
              <a:rPr lang="ko-KR" altLang="en-US" dirty="0"/>
              <a:t>축적된 데이터의 맨 앞시간과 맨 </a:t>
            </a:r>
            <a:r>
              <a:rPr lang="ko-KR" altLang="en-US" dirty="0" err="1"/>
              <a:t>뒷시간을</a:t>
            </a:r>
            <a:r>
              <a:rPr lang="ko-KR" altLang="en-US" dirty="0"/>
              <a:t> 기준으로 새로운 데이터프레임 생성</a:t>
            </a:r>
            <a:endParaRPr lang="en-US" altLang="ko-KR" dirty="0"/>
          </a:p>
          <a:p>
            <a:pPr lvl="2"/>
            <a:r>
              <a:rPr lang="ko-KR" altLang="en-US" dirty="0"/>
              <a:t>칼럼은 </a:t>
            </a:r>
            <a:r>
              <a:rPr lang="en-US" altLang="ko-KR" dirty="0"/>
              <a:t>“date”, </a:t>
            </a:r>
            <a:r>
              <a:rPr lang="ko-KR" altLang="en-US" dirty="0"/>
              <a:t>위 조건 기준 </a:t>
            </a:r>
            <a:r>
              <a:rPr lang="en-US" altLang="ko-KR" dirty="0"/>
              <a:t>1</a:t>
            </a:r>
            <a:r>
              <a:rPr lang="ko-KR" altLang="en-US" dirty="0"/>
              <a:t>분간격으로 레코드 생성</a:t>
            </a:r>
            <a:endParaRPr lang="en-US" altLang="ko-KR" dirty="0"/>
          </a:p>
          <a:p>
            <a:pPr lvl="1"/>
            <a:r>
              <a:rPr lang="ko-KR" altLang="en-US" dirty="0"/>
              <a:t>새로운 데이터프레임에 축적된 데이터로 만든 데이터프레임을 </a:t>
            </a:r>
            <a:r>
              <a:rPr lang="en-US" altLang="ko-KR" dirty="0"/>
              <a:t>left join</a:t>
            </a:r>
          </a:p>
          <a:p>
            <a:pPr lvl="1"/>
            <a:r>
              <a:rPr lang="en-US" altLang="ko-KR" dirty="0"/>
              <a:t>“nan”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 err="1"/>
              <a:t>numpy.nan</a:t>
            </a:r>
            <a:r>
              <a:rPr lang="en-US" altLang="ko-KR" dirty="0"/>
              <a:t> </a:t>
            </a:r>
            <a:r>
              <a:rPr lang="ko-KR" altLang="en-US" dirty="0"/>
              <a:t>으로 치환</a:t>
            </a:r>
            <a:endParaRPr lang="en-US" altLang="ko-KR" dirty="0"/>
          </a:p>
          <a:p>
            <a:pPr lvl="1"/>
            <a:r>
              <a:rPr lang="ko-KR" altLang="en-US" dirty="0" err="1"/>
              <a:t>결측치는</a:t>
            </a:r>
            <a:r>
              <a:rPr lang="ko-KR" altLang="en-US" dirty="0"/>
              <a:t> </a:t>
            </a:r>
            <a:r>
              <a:rPr lang="en-US" altLang="ko-KR" dirty="0" err="1"/>
              <a:t>ffill</a:t>
            </a:r>
            <a:r>
              <a:rPr lang="en-US" altLang="ko-KR" dirty="0"/>
              <a:t>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ko-KR" altLang="en-US" dirty="0"/>
              <a:t>데이터 타입은 조금 가볍게 </a:t>
            </a:r>
            <a:r>
              <a:rPr lang="en-US" altLang="ko-KR" dirty="0"/>
              <a:t>float64 -&gt; float32 </a:t>
            </a:r>
            <a:r>
              <a:rPr lang="ko-KR" altLang="en-US" dirty="0"/>
              <a:t>변경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DB4440-FE37-844A-9C78-AE683FD61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832" y="137847"/>
            <a:ext cx="3919333" cy="338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29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51FF-34D9-0BA7-1BE7-F69BF4F8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4E4E7-F332-AA9E-83B2-260D2BD0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3085CE-C0EB-FE71-DA58-A4A4E7BE8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dirty="0"/>
              <a:t>데이터 준비 완료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11A5907-1C76-78EC-6333-3F4B30628EB0}"/>
              </a:ext>
            </a:extLst>
          </p:cNvPr>
          <p:cNvSpPr txBox="1">
            <a:spLocks/>
          </p:cNvSpPr>
          <p:nvPr/>
        </p:nvSpPr>
        <p:spPr>
          <a:xfrm>
            <a:off x="612647" y="2397522"/>
            <a:ext cx="10653579" cy="467002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ko-KR" dirty="0"/>
              <a:t>&lt;class '</a:t>
            </a:r>
            <a:r>
              <a:rPr lang="en-US" altLang="ko-KR" dirty="0" err="1"/>
              <a:t>pandas.core.frame.DataFrame</a:t>
            </a:r>
            <a:r>
              <a:rPr lang="en-US" altLang="ko-KR" dirty="0"/>
              <a:t>'&gt;</a:t>
            </a:r>
          </a:p>
          <a:p>
            <a:pPr latinLnBrk="1"/>
            <a:r>
              <a:rPr lang="en-US" altLang="ko-KR" dirty="0" err="1"/>
              <a:t>RangeIndex</a:t>
            </a:r>
            <a:r>
              <a:rPr lang="en-US" altLang="ko-KR" dirty="0"/>
              <a:t>: 100743 entries, 0 to 100742</a:t>
            </a:r>
          </a:p>
          <a:p>
            <a:pPr latinLnBrk="1"/>
            <a:r>
              <a:rPr lang="en-US" altLang="ko-KR" dirty="0"/>
              <a:t>Data columns (total 93 columns):</a:t>
            </a:r>
          </a:p>
          <a:p>
            <a:pPr latinLnBrk="1"/>
            <a:r>
              <a:rPr lang="en-US" altLang="ko-KR" dirty="0"/>
              <a:t> #   Column               Non-Null Count   </a:t>
            </a:r>
            <a:r>
              <a:rPr lang="en-US" altLang="ko-KR" dirty="0" err="1"/>
              <a:t>Dtype</a:t>
            </a:r>
            <a:r>
              <a:rPr lang="en-US" altLang="ko-KR" dirty="0"/>
              <a:t>         </a:t>
            </a:r>
          </a:p>
          <a:p>
            <a:pPr latinLnBrk="1"/>
            <a:r>
              <a:rPr lang="en-US" altLang="ko-KR" dirty="0"/>
              <a:t>---  ------               --------------   -----         </a:t>
            </a:r>
          </a:p>
          <a:p>
            <a:pPr latinLnBrk="1"/>
            <a:r>
              <a:rPr lang="en-US" altLang="ko-KR" dirty="0"/>
              <a:t> 0   date                 100743 non-null  datetime64[ns]</a:t>
            </a:r>
          </a:p>
          <a:p>
            <a:pPr latinLnBrk="1"/>
            <a:r>
              <a:rPr lang="en-US" altLang="ko-KR" dirty="0"/>
              <a:t> 1   </a:t>
            </a:r>
            <a:r>
              <a:rPr lang="ko-KR" altLang="en-US" dirty="0"/>
              <a:t>일반 운명의 </a:t>
            </a:r>
            <a:r>
              <a:rPr lang="ko-KR" altLang="en-US" dirty="0" err="1"/>
              <a:t>수호석</a:t>
            </a:r>
            <a:r>
              <a:rPr lang="ko-KR" altLang="en-US" dirty="0"/>
              <a:t>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/>
              <a:t> 2   </a:t>
            </a:r>
            <a:r>
              <a:rPr lang="ko-KR" altLang="en-US" dirty="0"/>
              <a:t>일반 운명의 </a:t>
            </a:r>
            <a:r>
              <a:rPr lang="ko-KR" altLang="en-US" dirty="0" err="1"/>
              <a:t>파괴석</a:t>
            </a:r>
            <a:r>
              <a:rPr lang="ko-KR" altLang="en-US" dirty="0"/>
              <a:t>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/>
              <a:t> 3   </a:t>
            </a:r>
            <a:r>
              <a:rPr lang="ko-KR" altLang="en-US" dirty="0"/>
              <a:t>고급 운명의 파편 주머니</a:t>
            </a:r>
            <a:r>
              <a:rPr lang="en-US" altLang="ko-KR" dirty="0"/>
              <a:t>(</a:t>
            </a:r>
            <a:r>
              <a:rPr lang="ko-KR" altLang="en-US" dirty="0"/>
              <a:t>소</a:t>
            </a:r>
            <a:r>
              <a:rPr lang="en-US" altLang="ko-KR" dirty="0"/>
              <a:t>)     100743 non-null  float32       </a:t>
            </a:r>
          </a:p>
          <a:p>
            <a:pPr latinLnBrk="1"/>
            <a:r>
              <a:rPr lang="en-US" altLang="ko-KR" dirty="0"/>
              <a:t> 4   </a:t>
            </a:r>
            <a:r>
              <a:rPr lang="ko-KR" altLang="en-US" dirty="0"/>
              <a:t>희귀 운명의 </a:t>
            </a:r>
            <a:r>
              <a:rPr lang="ko-KR" altLang="en-US" dirty="0" err="1"/>
              <a:t>돌파석</a:t>
            </a:r>
            <a:r>
              <a:rPr lang="ko-KR" altLang="en-US" dirty="0"/>
              <a:t>           </a:t>
            </a:r>
            <a:r>
              <a:rPr lang="en-US" altLang="ko-KR" dirty="0"/>
              <a:t>100743 non-null  float32</a:t>
            </a:r>
          </a:p>
          <a:p>
            <a:pPr latinLnBrk="1"/>
            <a:r>
              <a:rPr lang="en-US" altLang="ko-KR" dirty="0"/>
              <a:t>…</a:t>
            </a:r>
          </a:p>
          <a:p>
            <a:pPr latinLnBrk="1"/>
            <a:r>
              <a:rPr lang="en-US" altLang="ko-KR" dirty="0"/>
              <a:t> 90  </a:t>
            </a:r>
            <a:r>
              <a:rPr lang="ko-KR" altLang="en-US" dirty="0"/>
              <a:t>유물 </a:t>
            </a:r>
            <a:r>
              <a:rPr lang="en-US" altLang="ko-KR" dirty="0"/>
              <a:t>8</a:t>
            </a:r>
            <a:r>
              <a:rPr lang="ko-KR" altLang="en-US" dirty="0"/>
              <a:t>레벨 보석 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/>
              <a:t> 91  </a:t>
            </a:r>
            <a:r>
              <a:rPr lang="ko-KR" altLang="en-US" dirty="0"/>
              <a:t>유물 </a:t>
            </a:r>
            <a:r>
              <a:rPr lang="en-US" altLang="ko-KR" dirty="0"/>
              <a:t>9</a:t>
            </a:r>
            <a:r>
              <a:rPr lang="ko-KR" altLang="en-US" dirty="0"/>
              <a:t>레벨 보석 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/>
              <a:t> 92  </a:t>
            </a:r>
            <a:r>
              <a:rPr lang="ko-KR" altLang="en-US" dirty="0"/>
              <a:t>고대 </a:t>
            </a:r>
            <a:r>
              <a:rPr lang="en-US" altLang="ko-KR" dirty="0"/>
              <a:t>10</a:t>
            </a:r>
            <a:r>
              <a:rPr lang="ko-KR" altLang="en-US" dirty="0"/>
              <a:t>레벨 보석           </a:t>
            </a:r>
            <a:r>
              <a:rPr lang="en-US" altLang="ko-KR" dirty="0"/>
              <a:t>100743 non-null  float32       </a:t>
            </a:r>
          </a:p>
          <a:p>
            <a:pPr latinLnBrk="1"/>
            <a:r>
              <a:rPr lang="en-US" altLang="ko-KR" dirty="0" err="1"/>
              <a:t>dtypes</a:t>
            </a:r>
            <a:r>
              <a:rPr lang="en-US" altLang="ko-KR" dirty="0"/>
              <a:t>: datetime64[ns](1), float32(92)</a:t>
            </a:r>
          </a:p>
          <a:p>
            <a:pPr latinLnBrk="1"/>
            <a:r>
              <a:rPr lang="en-US" altLang="ko-KR" dirty="0"/>
              <a:t>memory usage: 36.1 MB</a:t>
            </a:r>
          </a:p>
          <a:p>
            <a:pPr latinLnBrk="1"/>
            <a:r>
              <a:rPr lang="en-US" altLang="ko-KR" dirty="0"/>
              <a:t>None</a:t>
            </a:r>
          </a:p>
          <a:p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951A30B-3A98-CECA-66B8-D59BAC5A993F}"/>
              </a:ext>
            </a:extLst>
          </p:cNvPr>
          <p:cNvSpPr txBox="1">
            <a:spLocks/>
          </p:cNvSpPr>
          <p:nvPr/>
        </p:nvSpPr>
        <p:spPr>
          <a:xfrm>
            <a:off x="3724275" y="2385219"/>
            <a:ext cx="8383905" cy="3574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n-US" altLang="ko-KR" dirty="0"/>
              <a:t>                                      date  </a:t>
            </a:r>
            <a:r>
              <a:rPr lang="ko-KR" altLang="en-US" dirty="0"/>
              <a:t>일반 운명의 </a:t>
            </a:r>
            <a:r>
              <a:rPr lang="ko-KR" altLang="en-US" dirty="0" err="1"/>
              <a:t>수호석</a:t>
            </a:r>
            <a:r>
              <a:rPr lang="ko-KR" altLang="en-US" dirty="0"/>
              <a:t>  일반 운명의 </a:t>
            </a:r>
            <a:r>
              <a:rPr lang="ko-KR" altLang="en-US" dirty="0" err="1"/>
              <a:t>파괴석</a:t>
            </a:r>
            <a:r>
              <a:rPr lang="ko-KR" altLang="en-US" dirty="0"/>
              <a:t>  고급 운명의 파편 주머니</a:t>
            </a:r>
            <a:r>
              <a:rPr lang="en-US" altLang="ko-KR" dirty="0"/>
              <a:t>(</a:t>
            </a:r>
            <a:r>
              <a:rPr lang="ko-KR" altLang="en-US" dirty="0"/>
              <a:t>소</a:t>
            </a:r>
            <a:r>
              <a:rPr lang="en-US" altLang="ko-KR" dirty="0"/>
              <a:t>)  </a:t>
            </a:r>
            <a:r>
              <a:rPr lang="ko-KR" altLang="en-US" dirty="0"/>
              <a:t>희귀 운명의 </a:t>
            </a:r>
            <a:r>
              <a:rPr lang="ko-KR" altLang="en-US" dirty="0" err="1"/>
              <a:t>돌파석</a:t>
            </a:r>
            <a:r>
              <a:rPr lang="ko-KR" altLang="en-US" dirty="0"/>
              <a:t>   </a:t>
            </a:r>
            <a:r>
              <a:rPr lang="en-US" altLang="ko-KR" dirty="0"/>
              <a:t>...    </a:t>
            </a:r>
            <a:r>
              <a:rPr lang="ko-KR" altLang="en-US" dirty="0"/>
              <a:t>유물 </a:t>
            </a:r>
            <a:r>
              <a:rPr lang="en-US" altLang="ko-KR" dirty="0"/>
              <a:t>8</a:t>
            </a:r>
            <a:r>
              <a:rPr lang="ko-KR" altLang="en-US" dirty="0"/>
              <a:t>레벨 보석   유물 </a:t>
            </a:r>
            <a:r>
              <a:rPr lang="en-US" altLang="ko-KR" dirty="0"/>
              <a:t>9</a:t>
            </a:r>
            <a:r>
              <a:rPr lang="ko-KR" altLang="en-US" dirty="0"/>
              <a:t>레벨 보석   고대 </a:t>
            </a:r>
            <a:r>
              <a:rPr lang="en-US" altLang="ko-KR" dirty="0"/>
              <a:t>10</a:t>
            </a:r>
            <a:r>
              <a:rPr lang="ko-KR" altLang="en-US" dirty="0"/>
              <a:t>레벨 보석</a:t>
            </a:r>
          </a:p>
          <a:p>
            <a:pPr latinLnBrk="1"/>
            <a:r>
              <a:rPr lang="en-US" altLang="ko-KR" dirty="0"/>
              <a:t>0      2025-09-27 04:18:00                            2.0                           37.0                                       175.0                            6.0   ...   242228.906250            706950.0         1949299.875</a:t>
            </a:r>
          </a:p>
          <a:p>
            <a:pPr latinLnBrk="1"/>
            <a:r>
              <a:rPr lang="en-US" altLang="ko-KR" dirty="0"/>
              <a:t>1      2025-09-27 04:19:00                             2.0                           37.0                                       175.0                            6.0   ...     242117.796875            706950.0         1949299.875</a:t>
            </a:r>
          </a:p>
          <a:p>
            <a:pPr latinLnBrk="1"/>
            <a:r>
              <a:rPr lang="en-US" altLang="ko-KR" dirty="0"/>
              <a:t>2      2025-09-27 04:20:00                           2.0                           37.0                                       175.0                            6.0   ...    241637.796875            706950.0         1949299.875</a:t>
            </a:r>
          </a:p>
          <a:p>
            <a:pPr latinLnBrk="1"/>
            <a:r>
              <a:rPr lang="en-US" altLang="ko-KR" dirty="0"/>
              <a:t>3      2025-09-27 04:21:00                            2.0                           38.0                                       177.0                            7.0   ...    241057.796875            706950.0         1949299.875</a:t>
            </a:r>
          </a:p>
          <a:p>
            <a:pPr latinLnBrk="1"/>
            <a:r>
              <a:rPr lang="en-US" altLang="ko-KR" dirty="0"/>
              <a:t>4      2025-09-27 04:22:00                           2.0                           38.0                                       177.0                            7.0   ...   242129.000000           706950.0         1949299.875</a:t>
            </a:r>
          </a:p>
          <a:p>
            <a:pPr latinLnBrk="1"/>
            <a:r>
              <a:rPr lang="en-US" altLang="ko-KR" dirty="0"/>
              <a:t>...                                          ...                             ...                                 ...                                              ...                               ...   ...                              ...                          ...                             ...</a:t>
            </a:r>
          </a:p>
          <a:p>
            <a:pPr latinLnBrk="1"/>
            <a:r>
              <a:rPr lang="en-US" altLang="ko-KR" dirty="0"/>
              <a:t>100738 2025-12-06 01:58:00                      2.0                           85.0                                        311.0                            7.0   ...   292900.000000          857666.0        2385400.000</a:t>
            </a:r>
          </a:p>
          <a:p>
            <a:pPr latinLnBrk="1"/>
            <a:r>
              <a:rPr lang="en-US" altLang="ko-KR" dirty="0"/>
              <a:t>100739 2025-12-06 01:59:00                      3.0                           86.0                                       341.0                            7.0   ...   292800.000000          857666.0        2385400.000</a:t>
            </a:r>
          </a:p>
          <a:p>
            <a:pPr latinLnBrk="1"/>
            <a:r>
              <a:rPr lang="en-US" altLang="ko-KR" dirty="0"/>
              <a:t>100740 2025-12-06 02:00:00                    3.0                           86.0                                       341.0                            7.0   ...   292800.000000          857666.0        2385400.000</a:t>
            </a:r>
          </a:p>
          <a:p>
            <a:pPr latinLnBrk="1"/>
            <a:r>
              <a:rPr lang="en-US" altLang="ko-KR" dirty="0"/>
              <a:t>100741 2025-12-06 02:01:00                      3.0                           86.0                                       341.0                            7.0   ...   292800.000000          857666.0        2385400.000</a:t>
            </a:r>
          </a:p>
          <a:p>
            <a:pPr latinLnBrk="1"/>
            <a:r>
              <a:rPr lang="en-US" altLang="ko-KR" dirty="0"/>
              <a:t>100742 2025-12-06 02:02:00                    3.0                           80.0                                       341.0                            8.0   ...   292900.000000          857666.0        2385400.000</a:t>
            </a:r>
          </a:p>
          <a:p>
            <a:pPr latinLnBrk="1"/>
            <a:endParaRPr lang="en-US" altLang="ko-KR" dirty="0"/>
          </a:p>
          <a:p>
            <a:pPr latinLnBrk="1"/>
            <a:r>
              <a:rPr lang="en-US" altLang="ko-KR" dirty="0"/>
              <a:t>[100743 rows x 9 columns]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9524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02C74-B2AF-8765-79E4-69EA7B530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3492A-5764-25D0-68B3-FDDD0A234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92ED39-0500-5F77-B3A5-D4754FCF3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</a:t>
            </a:r>
            <a:r>
              <a:rPr lang="en-US" altLang="ko-KR" dirty="0"/>
              <a:t>-LSTM</a:t>
            </a:r>
          </a:p>
          <a:p>
            <a:r>
              <a:rPr lang="ko-KR" altLang="en-US" dirty="0"/>
              <a:t>시계열 데이터의 학습</a:t>
            </a:r>
            <a:endParaRPr lang="en-US" altLang="ko-KR" dirty="0"/>
          </a:p>
          <a:p>
            <a:pPr lvl="1"/>
            <a:r>
              <a:rPr lang="ko-KR" altLang="en-US" dirty="0"/>
              <a:t>과거의 </a:t>
            </a:r>
            <a:r>
              <a:rPr lang="ko-KR" altLang="en-US" dirty="0" err="1"/>
              <a:t>데이터묶음을</a:t>
            </a:r>
            <a:r>
              <a:rPr lang="ko-KR" altLang="en-US" dirty="0"/>
              <a:t> 인풋으로</a:t>
            </a:r>
          </a:p>
          <a:p>
            <a:pPr lvl="1"/>
            <a:r>
              <a:rPr lang="ko-KR" altLang="en-US" dirty="0" err="1"/>
              <a:t>데이터묶음의</a:t>
            </a:r>
            <a:r>
              <a:rPr lang="ko-KR" altLang="en-US" dirty="0"/>
              <a:t> 마지막 시점의 바로 다음 시점의 데이터를 아웃풋으로 </a:t>
            </a:r>
            <a:r>
              <a:rPr lang="ko-KR" altLang="en-US" dirty="0" err="1"/>
              <a:t>해야됨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C6DDAD-43EE-98AA-7FC1-4E13BA54B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808" y="3429000"/>
            <a:ext cx="4529255" cy="341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9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40FD-C0C0-A31D-91AF-5585297F0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EE457-5CC4-A0A5-7BA4-29607F8A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F519B6-65D4-11AD-EB02-AF2AAE508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 학습 전략 수립</a:t>
            </a:r>
            <a:endParaRPr lang="en-US" altLang="ko-KR" dirty="0"/>
          </a:p>
          <a:p>
            <a:r>
              <a:rPr lang="ko-KR" altLang="en-US" dirty="0" err="1"/>
              <a:t>그리드서치를</a:t>
            </a:r>
            <a:r>
              <a:rPr lang="ko-KR" altLang="en-US" dirty="0"/>
              <a:t> 이용</a:t>
            </a:r>
            <a:r>
              <a:rPr lang="en-US" altLang="ko-KR" dirty="0"/>
              <a:t>, </a:t>
            </a:r>
            <a:r>
              <a:rPr lang="ko-KR" altLang="en-US" dirty="0"/>
              <a:t>아래는 변화를 주는 파라미터</a:t>
            </a:r>
          </a:p>
          <a:p>
            <a:pPr lvl="1"/>
            <a:r>
              <a:rPr lang="ko-KR" altLang="en-US" dirty="0" err="1"/>
              <a:t>데이터묶음</a:t>
            </a:r>
            <a:r>
              <a:rPr lang="ko-KR" altLang="en-US" dirty="0"/>
              <a:t> 크기 </a:t>
            </a:r>
            <a:r>
              <a:rPr lang="en-US" altLang="ko-KR" dirty="0"/>
              <a:t>(1~14</a:t>
            </a:r>
            <a:r>
              <a:rPr lang="ko-KR" altLang="en-US" dirty="0"/>
              <a:t>분전</a:t>
            </a:r>
            <a:r>
              <a:rPr lang="en-US" altLang="ko-KR" dirty="0"/>
              <a:t>, 1~30</a:t>
            </a:r>
            <a:r>
              <a:rPr lang="ko-KR" altLang="en-US" dirty="0"/>
              <a:t>분전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퍼셉트론</a:t>
            </a:r>
            <a:r>
              <a:rPr lang="ko-KR" altLang="en-US" dirty="0"/>
              <a:t> 개수 </a:t>
            </a:r>
            <a:r>
              <a:rPr lang="en-US" altLang="ko-KR" dirty="0"/>
              <a:t>(64</a:t>
            </a:r>
            <a:r>
              <a:rPr lang="ko-KR" altLang="en-US" dirty="0"/>
              <a:t>개</a:t>
            </a:r>
            <a:r>
              <a:rPr lang="en-US" altLang="ko-KR" dirty="0"/>
              <a:t>, 128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드롭아웃</a:t>
            </a:r>
            <a:r>
              <a:rPr lang="ko-KR" altLang="en-US" dirty="0"/>
              <a:t> 비율 </a:t>
            </a:r>
            <a:r>
              <a:rPr lang="en-US" altLang="ko-KR" dirty="0"/>
              <a:t>(10%, 20%)</a:t>
            </a:r>
          </a:p>
          <a:p>
            <a:r>
              <a:rPr lang="en-US" altLang="ko-KR" dirty="0"/>
              <a:t>2^3 </a:t>
            </a:r>
            <a:r>
              <a:rPr lang="ko-KR" altLang="en-US" dirty="0"/>
              <a:t>경우의 수에 해당하는 모델의 성능평가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2817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F9FF4-D5C4-76D1-0F07-9979C1E75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42081-D1DF-C805-8EF2-58A922F65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6C2D4-BBD9-9009-882B-6612FE247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데이터묶음</a:t>
            </a:r>
            <a:r>
              <a:rPr lang="en-US" altLang="ko-KR" dirty="0"/>
              <a:t>30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 err="1"/>
              <a:t>퍼셉트론</a:t>
            </a:r>
            <a:r>
              <a:rPr lang="ko-KR" altLang="en-US" dirty="0"/>
              <a:t> </a:t>
            </a:r>
            <a:r>
              <a:rPr lang="en-US" altLang="ko-KR" dirty="0"/>
              <a:t>128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 err="1"/>
              <a:t>드롭아웃</a:t>
            </a:r>
            <a:r>
              <a:rPr lang="ko-KR" altLang="en-US" dirty="0"/>
              <a:t> 비율 </a:t>
            </a:r>
            <a:r>
              <a:rPr lang="en-US" altLang="ko-KR" dirty="0"/>
              <a:t>10%</a:t>
            </a:r>
          </a:p>
          <a:p>
            <a:r>
              <a:rPr lang="ko-KR" altLang="en-US" dirty="0"/>
              <a:t>일 때 테스트데이터를 통한 오차가 </a:t>
            </a:r>
            <a:r>
              <a:rPr lang="ko-KR" altLang="en-US" dirty="0" err="1"/>
              <a:t>제일낮음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6E8D49-55B3-CA78-D00C-40B49809E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093" y="2858854"/>
            <a:ext cx="6128686" cy="3847204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D98551A-093A-B669-A453-CC3E504689B6}"/>
              </a:ext>
            </a:extLst>
          </p:cNvPr>
          <p:cNvCxnSpPr>
            <a:cxnSpLocks/>
          </p:cNvCxnSpPr>
          <p:nvPr/>
        </p:nvCxnSpPr>
        <p:spPr>
          <a:xfrm>
            <a:off x="5521514" y="4755672"/>
            <a:ext cx="18691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580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7B34-4BD5-E969-697C-73F77C16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CF7DD-EF13-CE5D-8513-A91FB34B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3A744-CFBA-C786-22FF-7F466B19E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 학습 전략 수립 </a:t>
            </a:r>
            <a:r>
              <a:rPr lang="en-US" altLang="ko-KR" dirty="0"/>
              <a:t>2</a:t>
            </a:r>
          </a:p>
          <a:p>
            <a:r>
              <a:rPr lang="ko-KR" altLang="en-US" dirty="0" err="1"/>
              <a:t>그리드서치를</a:t>
            </a:r>
            <a:r>
              <a:rPr lang="ko-KR" altLang="en-US" dirty="0"/>
              <a:t> 이용</a:t>
            </a:r>
            <a:r>
              <a:rPr lang="en-US" altLang="ko-KR" dirty="0"/>
              <a:t>, </a:t>
            </a:r>
            <a:r>
              <a:rPr lang="ko-KR" altLang="en-US" dirty="0"/>
              <a:t>아래는 변화를 주는 파라미터</a:t>
            </a:r>
          </a:p>
          <a:p>
            <a:pPr lvl="1"/>
            <a:r>
              <a:rPr lang="ko-KR" altLang="en-US" dirty="0" err="1"/>
              <a:t>데이터묶음</a:t>
            </a:r>
            <a:r>
              <a:rPr lang="ko-KR" altLang="en-US" dirty="0"/>
              <a:t> 크기 </a:t>
            </a:r>
            <a:r>
              <a:rPr lang="en-US" altLang="ko-KR" dirty="0"/>
              <a:t>(1~14</a:t>
            </a:r>
            <a:r>
              <a:rPr lang="ko-KR" altLang="en-US" dirty="0"/>
              <a:t>분전</a:t>
            </a:r>
            <a:r>
              <a:rPr lang="en-US" altLang="ko-KR" dirty="0"/>
              <a:t>, 1~30</a:t>
            </a:r>
            <a:r>
              <a:rPr lang="ko-KR" altLang="en-US" dirty="0"/>
              <a:t>분전</a:t>
            </a:r>
            <a:r>
              <a:rPr lang="en-US" altLang="ko-KR" dirty="0"/>
              <a:t>, 1~45</a:t>
            </a:r>
            <a:r>
              <a:rPr lang="ko-KR" altLang="en-US" dirty="0"/>
              <a:t>분전</a:t>
            </a:r>
            <a:r>
              <a:rPr lang="en-US" altLang="ko-KR" dirty="0"/>
              <a:t>, 1~60</a:t>
            </a:r>
            <a:r>
              <a:rPr lang="ko-KR" altLang="en-US" dirty="0"/>
              <a:t>분전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4221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2B12-65A3-8A6E-0A67-487DD387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43384-A926-1603-F613-45B8753EF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EE5383-A0E9-6190-E9EB-7E3C6399D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묶음 크기가 클 수록 </a:t>
            </a:r>
            <a:r>
              <a:rPr lang="ko-KR" altLang="en-US" dirty="0" err="1"/>
              <a:t>학습률은</a:t>
            </a:r>
            <a:r>
              <a:rPr lang="ko-KR" altLang="en-US" dirty="0"/>
              <a:t> 증가</a:t>
            </a:r>
            <a:endParaRPr lang="en-US" altLang="ko-KR" dirty="0"/>
          </a:p>
          <a:p>
            <a:r>
              <a:rPr lang="ko-KR" altLang="en-US" dirty="0"/>
              <a:t>하지만 예측데이터와 테스트간 오차는 </a:t>
            </a:r>
            <a:r>
              <a:rPr lang="ko-KR" altLang="en-US" dirty="0" err="1"/>
              <a:t>데이터묶음</a:t>
            </a:r>
            <a:r>
              <a:rPr lang="ko-KR" altLang="en-US" dirty="0"/>
              <a:t> 크기가 </a:t>
            </a:r>
            <a:r>
              <a:rPr lang="en-US" altLang="ko-KR" dirty="0"/>
              <a:t>30</a:t>
            </a:r>
            <a:r>
              <a:rPr lang="ko-KR" altLang="en-US" dirty="0" err="1"/>
              <a:t>일때</a:t>
            </a:r>
            <a:r>
              <a:rPr lang="ko-KR" altLang="en-US" dirty="0"/>
              <a:t> </a:t>
            </a:r>
            <a:r>
              <a:rPr lang="ko-KR" altLang="en-US" dirty="0" err="1"/>
              <a:t>제일낮다</a:t>
            </a:r>
            <a:endParaRPr lang="en-US" altLang="ko-KR" dirty="0"/>
          </a:p>
          <a:p>
            <a:pPr lvl="1"/>
            <a:r>
              <a:rPr lang="ko-KR" altLang="en-US" dirty="0"/>
              <a:t>데이터 묶음 크기가 큰 경우엔 과적합이 의심됨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C97FE3-AED2-555A-2D45-452AD1A1A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65" y="3176833"/>
            <a:ext cx="6296469" cy="3462465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BE230DC-DE28-143A-160D-AA0986C70189}"/>
              </a:ext>
            </a:extLst>
          </p:cNvPr>
          <p:cNvCxnSpPr>
            <a:cxnSpLocks/>
          </p:cNvCxnSpPr>
          <p:nvPr/>
        </p:nvCxnSpPr>
        <p:spPr>
          <a:xfrm>
            <a:off x="5728903" y="5396695"/>
            <a:ext cx="18691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6022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A439-1468-9EE2-6EA1-6CEC0255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37123-1106-ABC3-FBE8-07382A7FC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67766-5FA1-88B2-EDF8-99F6DAE0D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최종 </a:t>
            </a:r>
            <a:r>
              <a:rPr lang="ko-KR" altLang="en-US" dirty="0" err="1"/>
              <a:t>하이퍼</a:t>
            </a:r>
            <a:r>
              <a:rPr lang="ko-KR" altLang="en-US" dirty="0"/>
              <a:t> 파라미터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데이터묶음</a:t>
            </a:r>
            <a:r>
              <a:rPr lang="ko-KR" altLang="en-US" dirty="0"/>
              <a:t> </a:t>
            </a:r>
            <a:r>
              <a:rPr lang="en-US" altLang="ko-KR" dirty="0"/>
              <a:t>30</a:t>
            </a:r>
            <a:r>
              <a:rPr lang="ko-KR" altLang="en-US" dirty="0"/>
              <a:t>개</a:t>
            </a:r>
            <a:r>
              <a:rPr lang="en-US" altLang="ko-KR" dirty="0"/>
              <a:t>(1~30</a:t>
            </a:r>
            <a:r>
              <a:rPr lang="ko-KR" altLang="en-US" dirty="0"/>
              <a:t>분 전의 </a:t>
            </a:r>
            <a:r>
              <a:rPr lang="en-US" altLang="ko-KR" dirty="0"/>
              <a:t>1</a:t>
            </a:r>
            <a:r>
              <a:rPr lang="ko-KR" altLang="en-US" dirty="0" err="1"/>
              <a:t>분간격</a:t>
            </a:r>
            <a:r>
              <a:rPr lang="ko-KR" altLang="en-US" dirty="0"/>
              <a:t> 데이터를 기준으로 그 다음시간의 가격예측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검증데이터 비율 </a:t>
            </a:r>
            <a:r>
              <a:rPr lang="en-US" altLang="ko-KR" dirty="0"/>
              <a:t>15%</a:t>
            </a:r>
          </a:p>
          <a:p>
            <a:r>
              <a:rPr lang="ko-KR" altLang="en-US" dirty="0"/>
              <a:t>테스트데이터 비율 </a:t>
            </a:r>
            <a:r>
              <a:rPr lang="en-US" altLang="ko-KR" dirty="0"/>
              <a:t>15%</a:t>
            </a:r>
          </a:p>
          <a:p>
            <a:r>
              <a:rPr lang="ko-KR" altLang="en-US" dirty="0" err="1"/>
              <a:t>드롭아웃</a:t>
            </a:r>
            <a:r>
              <a:rPr lang="ko-KR" altLang="en-US" dirty="0"/>
              <a:t> 비율 </a:t>
            </a:r>
            <a:r>
              <a:rPr lang="en-US" altLang="ko-KR" dirty="0"/>
              <a:t>10%</a:t>
            </a:r>
          </a:p>
          <a:p>
            <a:r>
              <a:rPr lang="ko-KR" altLang="en-US" dirty="0" err="1"/>
              <a:t>퍼셉트론</a:t>
            </a:r>
            <a:r>
              <a:rPr lang="ko-KR" altLang="en-US" dirty="0"/>
              <a:t> 개수 </a:t>
            </a:r>
            <a:r>
              <a:rPr lang="en-US" altLang="ko-KR" dirty="0"/>
              <a:t>128</a:t>
            </a:r>
          </a:p>
          <a:p>
            <a:r>
              <a:rPr lang="ko-KR" altLang="en-US" dirty="0"/>
              <a:t>배치사이즈</a:t>
            </a:r>
            <a:r>
              <a:rPr lang="en-US" altLang="ko-KR" dirty="0"/>
              <a:t> 128</a:t>
            </a:r>
          </a:p>
          <a:p>
            <a:endParaRPr lang="en-US" altLang="ko-KR" dirty="0"/>
          </a:p>
          <a:p>
            <a:r>
              <a:rPr lang="ko-KR" altLang="en-US" dirty="0"/>
              <a:t>그 외 항목들</a:t>
            </a:r>
            <a:endParaRPr lang="en-US" altLang="ko-KR" dirty="0"/>
          </a:p>
          <a:p>
            <a:pPr lvl="1"/>
            <a:r>
              <a:rPr lang="ko-KR" altLang="en-US" dirty="0"/>
              <a:t>밀가루 가격이 올라가면 빵</a:t>
            </a:r>
            <a:r>
              <a:rPr lang="en-US" altLang="ko-KR" dirty="0"/>
              <a:t>, </a:t>
            </a:r>
            <a:r>
              <a:rPr lang="ko-KR" altLang="en-US" dirty="0"/>
              <a:t>면 등의 가격이 올라가듯 상관관계를 고려하여 </a:t>
            </a:r>
            <a:r>
              <a:rPr lang="en-US" altLang="ko-KR" dirty="0"/>
              <a:t>92</a:t>
            </a:r>
            <a:r>
              <a:rPr lang="ko-KR" altLang="en-US" dirty="0"/>
              <a:t>개 데이터 동시학습</a:t>
            </a:r>
            <a:endParaRPr lang="en-US" altLang="ko-KR" dirty="0"/>
          </a:p>
          <a:p>
            <a:pPr lvl="1"/>
            <a:r>
              <a:rPr lang="en-US" altLang="ko-KR" dirty="0"/>
              <a:t>Loss</a:t>
            </a:r>
            <a:r>
              <a:rPr lang="ko-KR" altLang="en-US" dirty="0"/>
              <a:t>가 </a:t>
            </a:r>
            <a:r>
              <a:rPr lang="en-US" altLang="ko-KR" dirty="0"/>
              <a:t>2</a:t>
            </a:r>
            <a:r>
              <a:rPr lang="ko-KR" altLang="en-US" dirty="0" err="1"/>
              <a:t>회연속</a:t>
            </a:r>
            <a:r>
              <a:rPr lang="ko-KR" altLang="en-US" dirty="0"/>
              <a:t> 감소하지 않으면 조기종료</a:t>
            </a:r>
            <a:endParaRPr lang="en-US" altLang="ko-KR" dirty="0"/>
          </a:p>
          <a:p>
            <a:pPr lvl="1"/>
            <a:r>
              <a:rPr lang="ko-KR" altLang="en-US" dirty="0"/>
              <a:t>데이터를 </a:t>
            </a:r>
            <a:r>
              <a:rPr lang="en-US" altLang="ko-KR" dirty="0"/>
              <a:t>0~1 </a:t>
            </a:r>
            <a:r>
              <a:rPr lang="ko-KR" altLang="en-US" dirty="0"/>
              <a:t>크기로 정규화</a:t>
            </a:r>
          </a:p>
        </p:txBody>
      </p:sp>
    </p:spTree>
    <p:extLst>
      <p:ext uri="{BB962C8B-B14F-4D97-AF65-F5344CB8AC3E}">
        <p14:creationId xmlns:p14="http://schemas.microsoft.com/office/powerpoint/2010/main" val="18723396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EA8E-D17B-E779-3DAC-3D9EAD31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1FEEA-A4C2-9584-8B58-95AE0A60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47B3CC-FC2F-B482-B5BB-A0BC8C36A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그래프의 모습을 보면 전체적으로 학습이 괜찮게 </a:t>
            </a:r>
            <a:r>
              <a:rPr lang="ko-KR" altLang="en-US" dirty="0" err="1"/>
              <a:t>됐음</a:t>
            </a:r>
            <a:endParaRPr lang="en-US" altLang="ko-KR" dirty="0"/>
          </a:p>
          <a:p>
            <a:r>
              <a:rPr lang="ko-KR" altLang="en-US" dirty="0" err="1"/>
              <a:t>드롭박스의</a:t>
            </a:r>
            <a:r>
              <a:rPr lang="ko-KR" altLang="en-US" dirty="0"/>
              <a:t> 맨 위 항목에 전체보기가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시각화 사이트</a:t>
            </a:r>
            <a:endParaRPr lang="en-US" altLang="ko-KR" dirty="0"/>
          </a:p>
          <a:p>
            <a:pPr lvl="1"/>
            <a:r>
              <a:rPr lang="en-US" altLang="ko-KR" dirty="0"/>
              <a:t>https://terrrrrrra.github.io/Inha2025_BigData/</a:t>
            </a:r>
          </a:p>
        </p:txBody>
      </p:sp>
    </p:spTree>
    <p:extLst>
      <p:ext uri="{BB962C8B-B14F-4D97-AF65-F5344CB8AC3E}">
        <p14:creationId xmlns:p14="http://schemas.microsoft.com/office/powerpoint/2010/main" val="31693326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AAE2A-63B2-605D-757B-A3EF8B9E2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59E65-72D5-679E-521D-942376820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B6284-70CC-BE5A-4560-AA1E0F64E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미래의 가격을 예측하기 위해선</a:t>
            </a:r>
            <a:endParaRPr lang="en-US" altLang="ko-KR" dirty="0"/>
          </a:p>
          <a:p>
            <a:r>
              <a:rPr lang="ko-KR" altLang="en-US" dirty="0"/>
              <a:t>현재시점의 가격데이터 포함 </a:t>
            </a:r>
            <a:r>
              <a:rPr lang="en-US" altLang="ko-KR" dirty="0"/>
              <a:t>30</a:t>
            </a:r>
            <a:r>
              <a:rPr lang="ko-KR" altLang="en-US" dirty="0"/>
              <a:t>분전의 가격데이터를 </a:t>
            </a:r>
            <a:r>
              <a:rPr lang="en-US" altLang="ko-KR" dirty="0"/>
              <a:t>1</a:t>
            </a:r>
            <a:r>
              <a:rPr lang="ko-KR" altLang="en-US" dirty="0"/>
              <a:t>분간격의 묶음으로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 err="1"/>
              <a:t>분후의</a:t>
            </a:r>
            <a:r>
              <a:rPr lang="ko-KR" altLang="en-US" dirty="0"/>
              <a:t> 예측데이터를 얻고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 err="1"/>
              <a:t>분후의</a:t>
            </a:r>
            <a:r>
              <a:rPr lang="ko-KR" altLang="en-US" dirty="0"/>
              <a:t> 데이터 </a:t>
            </a:r>
            <a:r>
              <a:rPr lang="en-US" altLang="ko-KR" dirty="0"/>
              <a:t>+ 29</a:t>
            </a:r>
            <a:r>
              <a:rPr lang="ko-KR" altLang="en-US" dirty="0"/>
              <a:t>분전의 데이터를 통해 </a:t>
            </a:r>
            <a:r>
              <a:rPr lang="en-US" altLang="ko-KR" dirty="0"/>
              <a:t>2</a:t>
            </a:r>
            <a:r>
              <a:rPr lang="ko-KR" altLang="en-US" dirty="0" err="1"/>
              <a:t>분후</a:t>
            </a:r>
            <a:r>
              <a:rPr lang="ko-KR" altLang="en-US" dirty="0"/>
              <a:t> 데이터를 얻는다</a:t>
            </a:r>
            <a:endParaRPr lang="en-US" altLang="ko-KR" dirty="0"/>
          </a:p>
          <a:p>
            <a:r>
              <a:rPr lang="ko-KR" altLang="en-US" dirty="0"/>
              <a:t>이를 반복하여 미래의 데이터를 예측 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306782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4E19-019F-3D95-448E-33A4B919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B5C02A-7BB8-E3E4-9DE2-912A4CE9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3B551F-66FB-DC4C-A3D3-86E4B1F4B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학습된 모델을 이용하여 아이템가격의 향후시세를 미리 볼 수 있다면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쌀때</a:t>
            </a:r>
            <a:r>
              <a:rPr lang="ko-KR" altLang="en-US" dirty="0"/>
              <a:t> 사들이고 </a:t>
            </a:r>
            <a:r>
              <a:rPr lang="ko-KR" altLang="en-US" dirty="0" err="1"/>
              <a:t>비쌀때</a:t>
            </a:r>
            <a:r>
              <a:rPr lang="ko-KR" altLang="en-US" dirty="0"/>
              <a:t> 판매하여 이득을 취할 수 있다</a:t>
            </a:r>
          </a:p>
        </p:txBody>
      </p:sp>
    </p:spTree>
    <p:extLst>
      <p:ext uri="{BB962C8B-B14F-4D97-AF65-F5344CB8AC3E}">
        <p14:creationId xmlns:p14="http://schemas.microsoft.com/office/powerpoint/2010/main" val="38374053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책상 위의 가젯">
            <a:extLst>
              <a:ext uri="{FF2B5EF4-FFF2-40B4-BE49-F238E27FC236}">
                <a16:creationId xmlns:a16="http://schemas.microsoft.com/office/drawing/2014/main" id="{A77FCBF1-BCDB-2975-4915-E9B79F5B28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500" b="2050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148FA6EF-A678-2C22-3170-24B635F40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ko-KR" altLang="en-US" sz="5400">
                <a:solidFill>
                  <a:srgbClr val="FFFFFF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597645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1838</Words>
  <Application>Microsoft Office PowerPoint</Application>
  <PresentationFormat>와이드스크린</PresentationFormat>
  <Paragraphs>320</Paragraphs>
  <Slides>47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2" baseType="lpstr">
      <vt:lpstr>맑은 고딕</vt:lpstr>
      <vt:lpstr>Arial</vt:lpstr>
      <vt:lpstr>Neue Haas Grotesk Text Pro</vt:lpstr>
      <vt:lpstr>VanillaVTI</vt:lpstr>
      <vt:lpstr>패키지</vt:lpstr>
      <vt:lpstr>로스트아크 게임속 아이템들의 시세예측</vt:lpstr>
      <vt:lpstr>목차</vt:lpstr>
      <vt:lpstr>프로젝트 동기</vt:lpstr>
      <vt:lpstr>데이터 수집 과정</vt:lpstr>
      <vt:lpstr>데이터 수집 과정</vt:lpstr>
      <vt:lpstr>데이터 수집 과정</vt:lpstr>
      <vt:lpstr>데이터 수집 과정</vt:lpstr>
      <vt:lpstr>데이터 수집 과정</vt:lpstr>
      <vt:lpstr>데이터 수집 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데이터 수집 시스템 구축과정</vt:lpstr>
      <vt:lpstr>전처리</vt:lpstr>
      <vt:lpstr>전처리</vt:lpstr>
      <vt:lpstr>전처리</vt:lpstr>
      <vt:lpstr>전처리</vt:lpstr>
      <vt:lpstr>학습</vt:lpstr>
      <vt:lpstr>학습</vt:lpstr>
      <vt:lpstr>학습</vt:lpstr>
      <vt:lpstr>학습</vt:lpstr>
      <vt:lpstr>학습</vt:lpstr>
      <vt:lpstr>학습</vt:lpstr>
      <vt:lpstr>결과</vt:lpstr>
      <vt:lpstr>결과</vt:lpstr>
      <vt:lpstr>기대효과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장기성[컴퓨터정보공학과]</dc:creator>
  <cp:lastModifiedBy>장기성[컴퓨터정보공학과]</cp:lastModifiedBy>
  <cp:revision>26</cp:revision>
  <dcterms:created xsi:type="dcterms:W3CDTF">2025-12-06T08:31:56Z</dcterms:created>
  <dcterms:modified xsi:type="dcterms:W3CDTF">2025-12-06T16:22:23Z</dcterms:modified>
</cp:coreProperties>
</file>